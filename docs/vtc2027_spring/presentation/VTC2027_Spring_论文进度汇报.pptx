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e4c8fd2b74aef" /><Relationship Type="http://schemas.openxmlformats.org/officeDocument/2006/relationships/extended-properties" Target="/docProps/app.xml" Id="Rc4207276db54479f" /><Relationship Type="http://schemas.openxmlformats.org/officeDocument/2006/relationships/officeDocument" Target="/ppt/presentation.xml" Id="R2404ecf6fb1e43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b2d17d6fb46e8"/>
  </p:sldMasterIdLst>
  <p:notesMasterIdLst>
    <p:notesMasterId xmlns:r="http://schemas.openxmlformats.org/officeDocument/2006/relationships" r:id="R199ece147acc42f0"/>
  </p:notesMasterIdLst>
  <p:sldIdLst>
    <p:sldId xmlns:r="http://schemas.openxmlformats.org/officeDocument/2006/relationships" id="256" r:id="R50a4f51979d54a40"/>
    <p:sldId xmlns:r="http://schemas.openxmlformats.org/officeDocument/2006/relationships" id="257" r:id="R69e940bd625347af"/>
    <p:sldId xmlns:r="http://schemas.openxmlformats.org/officeDocument/2006/relationships" id="258" r:id="Rbb3c2e96f4ce456f"/>
    <p:sldId xmlns:r="http://schemas.openxmlformats.org/officeDocument/2006/relationships" id="259" r:id="R9bc74e9aa4e946a8"/>
    <p:sldId xmlns:r="http://schemas.openxmlformats.org/officeDocument/2006/relationships" id="260" r:id="R73528e822bfe4a43"/>
    <p:sldId xmlns:r="http://schemas.openxmlformats.org/officeDocument/2006/relationships" id="261" r:id="Re832d6a9140c424f"/>
    <p:sldId xmlns:r="http://schemas.openxmlformats.org/officeDocument/2006/relationships" id="262" r:id="R2a81882c2c774c43"/>
    <p:sldId xmlns:r="http://schemas.openxmlformats.org/officeDocument/2006/relationships" id="263" r:id="Rc9ceed9654f448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d1c1ab06545d1" /><Relationship Type="http://schemas.openxmlformats.org/officeDocument/2006/relationships/slideMaster" Target="/ppt/slideMasters/slideMaster1.xml" Id="Rfd7b2d17d6fb46e8" /><Relationship Type="http://schemas.openxmlformats.org/officeDocument/2006/relationships/notesMaster" Target="/ppt/notesMasters/notesMaster1.xml" Id="R199ece147acc42f0" /><Relationship Type="http://schemas.openxmlformats.org/officeDocument/2006/relationships/presProps" Target="/ppt/presProps.xml" Id="R58198eb0e2834e07" /><Relationship Type="http://schemas.openxmlformats.org/officeDocument/2006/relationships/tableStyles" Target="/ppt/tableStyles.xml" Id="Rd8f2fce3143448d9" /><Relationship Type="http://schemas.openxmlformats.org/officeDocument/2006/relationships/slide" Target="/ppt/slides/slide1.xml" Id="R50a4f51979d54a40" /><Relationship Type="http://schemas.openxmlformats.org/officeDocument/2006/relationships/slide" Target="/ppt/slides/slide2.xml" Id="R69e940bd625347af" /><Relationship Type="http://schemas.openxmlformats.org/officeDocument/2006/relationships/slide" Target="/ppt/slides/slide3.xml" Id="Rbb3c2e96f4ce456f" /><Relationship Type="http://schemas.openxmlformats.org/officeDocument/2006/relationships/slide" Target="/ppt/slides/slide4.xml" Id="R9bc74e9aa4e946a8" /><Relationship Type="http://schemas.openxmlformats.org/officeDocument/2006/relationships/slide" Target="/ppt/slides/slide5.xml" Id="R73528e822bfe4a43" /><Relationship Type="http://schemas.openxmlformats.org/officeDocument/2006/relationships/slide" Target="/ppt/slides/slide6.xml" Id="Re832d6a9140c424f" /><Relationship Type="http://schemas.openxmlformats.org/officeDocument/2006/relationships/slide" Target="/ppt/slides/slide7.xml" Id="R2a81882c2c774c43" /><Relationship Type="http://schemas.openxmlformats.org/officeDocument/2006/relationships/slide" Target="/ppt/slides/slide8.xml" Id="Rc9ceed9654f448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c851789aec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d2523e4e3490e" /><Relationship Type="http://schemas.openxmlformats.org/officeDocument/2006/relationships/notesMaster" Target="/ppt/notesMasters/notesMaster1.xml" Id="R1c046b70c3a2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853a43e81e44ab" /><Relationship Type="http://schemas.openxmlformats.org/officeDocument/2006/relationships/notesMaster" Target="/ppt/notesMasters/notesMaster1.xml" Id="R5f6ed31474294c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f05bea87584715" /><Relationship Type="http://schemas.openxmlformats.org/officeDocument/2006/relationships/notesMaster" Target="/ppt/notesMasters/notesMaster1.xml" Id="Re8de0b65803b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7277663b441a6" /><Relationship Type="http://schemas.openxmlformats.org/officeDocument/2006/relationships/notesMaster" Target="/ppt/notesMasters/notesMaster1.xml" Id="R6322d4b849cc4f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141fa2f33413d" /><Relationship Type="http://schemas.openxmlformats.org/officeDocument/2006/relationships/notesMaster" Target="/ppt/notesMasters/notesMaster1.xml" Id="Rce7152d791f74d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0e4184c407488a" /><Relationship Type="http://schemas.openxmlformats.org/officeDocument/2006/relationships/notesMaster" Target="/ppt/notesMasters/notesMaster1.xml" Id="R41ded53349bd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4b016a916442d7" /><Relationship Type="http://schemas.openxmlformats.org/officeDocument/2006/relationships/notesMaster" Target="/ppt/notesMasters/notesMaster1.xml" Id="R68f4bbfe9b08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ea751bef9e4a53" /><Relationship Type="http://schemas.openxmlformats.org/officeDocument/2006/relationships/notesMaster" Target="/ppt/notesMasters/notesMaster1.xml" Id="R89429d9ae2cc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开场说明：本次汇报聚焦论文当前可交付内容、证据边界和投稿前工作，不展开新的实验计划。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docs/GNSS_SAGE_VTC_WRITING_HANDOFF_CURRENT.md</a:t>
            </a:r>
          </a:p>
          <a:p xmlns:a="http://schemas.openxmlformats.org/drawingml/2006/main">
            <a:r>
              <a:t>- docs/GNSS_SAGE_PAPER_HANDOFF_CURRENT.md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这一页先建立论文边界：研究对象是 confirmed path，而不是单一接收机指标或完整信道模型。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docs/vtc2027_spring/manuscript/latex/main.tex</a:t>
            </a:r>
          </a:p>
          <a:p xmlns:a="http://schemas.openxmlformats.org/drawingml/2006/main">
            <a:r>
              <a:t>- docs/vtc2027_spring/figures/figure1_workflow.png</a:t>
            </a:r>
          </a:p>
          <a:p xmlns:a="http://schemas.openxmlformats.org/drawingml/2006/main">
            <a:r>
              <a:t>- docs/GNSS_SAGE_PAPER_HANDOFF_CURRENT.md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说明层级含义：Stage2 的 L≥2 和 Stage3 的可靠中心都只是中间证据；最终对象来自多快照联合确认。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docs/vtc2027_spring/manuscript/latex/main.tex</a:t>
            </a:r>
          </a:p>
          <a:p xmlns:a="http://schemas.openxmlformats.org/drawingml/2006/main">
            <a:r>
              <a:t>- docs/vtc2027_spring/figures/figure1_workflow.png</a:t>
            </a:r>
          </a:p>
          <a:p xmlns:a="http://schemas.openxmlformats.org/drawingml/2006/main">
            <a:r>
              <a:t>- docs/vtc2027_spring/figures/figure3_hierarchical_confirmation.png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强调证据边界：表格是当前论文可用的覆盖与确认计数，不是所有场景的完整数据库，也不构成发生率估计。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docs/vtc2027_spring/tables/table2_experimental_evidence_summary.csv</a:t>
            </a:r>
          </a:p>
          <a:p xmlns:a="http://schemas.openxmlformats.org/drawingml/2006/main">
            <a:r>
              <a:t>- docs/vtc2027_spring/evidence/VTC_ENVIRONMENT_EVIDENCE_CENSUS.csv</a:t>
            </a:r>
          </a:p>
          <a:p xmlns:a="http://schemas.openxmlformats.org/drawingml/2006/main">
            <a:r>
              <a:t>- docs/vtc2027_spring/evidence/vtc_evidence_summary.csv</a:t>
            </a:r>
          </a:p>
          <a:p xmlns:a="http://schemas.openxmlformats.org/drawingml/2006/main">
            <a:r>
              <a:t>- docs/GNSS_SAGE_PAPER_HANDOFF_CURRENT.md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讲解时强调：该图是一个代表性 confirmed case，用来解释路径参数的含义，不把图中次级路径直接解释成具体物理反射体。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docs/vtc2027_spring/manuscript/latex/main.tex</a:t>
            </a:r>
          </a:p>
          <a:p xmlns:a="http://schemas.openxmlformats.org/drawingml/2006/main">
            <a:r>
              <a:t>- docs/vtc2027_spring/figures/figure2_representative_path.png</a:t>
            </a:r>
          </a:p>
          <a:p xmlns:a="http://schemas.openxmlformats.org/drawingml/2006/main">
            <a:r>
              <a:t>- docs/vtc2027_spring/evidence/vtc_confirmed_path_database.csv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Figure 3 的代表性案例当成环境统计。G18 的表述限定为当前 Stage4 联合确认准则下没有 confirmed event，不写成物理无多径或 LOS。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docs/vtc2027_spring/manuscript/latex/main.tex</a:t>
            </a:r>
          </a:p>
          <a:p xmlns:a="http://schemas.openxmlformats.org/drawingml/2006/main">
            <a:r>
              <a:t>- docs/vtc2027_spring/figures/figure3_hierarchical_confirmation.png</a:t>
            </a:r>
          </a:p>
          <a:p xmlns:a="http://schemas.openxmlformats.org/drawingml/2006/main">
            <a:r>
              <a:t>- docs/vtc2027_spring/evidence/vtc_evidence_summary.csv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 使用 30 条 confirmed path observations，展示三个共同可用的路径级量。环境差异只作 bounded descriptive comparison。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docs/vtc2027_spring/manuscript/latex/main.tex</a:t>
            </a:r>
          </a:p>
          <a:p xmlns:a="http://schemas.openxmlformats.org/drawingml/2006/main">
            <a:r>
              <a:t>- docs/vtc2027_spring/figures/figure4_environment_path_characteristics.png</a:t>
            </a:r>
          </a:p>
          <a:p xmlns:a="http://schemas.openxmlformats.org/drawingml/2006/main">
            <a:r>
              <a:t>- docs/vtc2027_spring/evidence/vtc_confirmed_path_database.csv</a:t>
            </a:r>
          </a:p>
          <a:p xmlns:a="http://schemas.openxmlformats.org/drawingml/2006/main">
            <a:r>
              <a:t>- docs/vtc2027_spring/tables/table2_experimental_evidence_summary.csv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收束汇报：当前不需要新增实验；最小必要下一步是作者审阅和投稿合规检查。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docs/GNSS_SAGE_VTC_WRITING_HANDOFF_CURRENT.md</a:t>
            </a:r>
          </a:p>
          <a:p xmlns:a="http://schemas.openxmlformats.org/drawingml/2006/main">
            <a:r>
              <a:t>- docs/GNSS_SAGE_PAPER_HANDOFF_CURRENT.md</a:t>
            </a:r>
          </a:p>
          <a:p xmlns:a="http://schemas.openxmlformats.org/drawingml/2006/main">
            <a:r>
              <a:t>- docs/vtc2027_spring/manuscript/latex/main.pdf</a:t>
            </a:r>
          </a:p>
          <a:p xmlns:a="http://schemas.openxmlformats.org/drawingml/2006/main">
            <a:r>
              <a:t>- docs/vtc2027_spring/manuscript/latex_cn_review/main_cn_review.pdf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ffbd24f2f48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6478a20374a45" /><Relationship Type="http://schemas.openxmlformats.org/officeDocument/2006/relationships/slideLayout" Target="/ppt/slideLayouts/slideLayout1.xml" Id="Rc435d30e1ac049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5d30e1ac049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97d14b9d240ed" /><Relationship Type="http://schemas.openxmlformats.org/officeDocument/2006/relationships/notesSlide" Target="/ppt/notesSlides/notesSlide1.xml" Id="Rb019cd2a543a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5b5ba16b4c78" /><Relationship Type="http://schemas.openxmlformats.org/officeDocument/2006/relationships/image" Target="/ppt/media/image.png" Id="Rcf6647025ea74968" /><Relationship Type="http://schemas.openxmlformats.org/officeDocument/2006/relationships/notesSlide" Target="/ppt/notesSlides/notesSlide2.xml" Id="R2b94753a89b447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08864f0a94d8f" /><Relationship Type="http://schemas.openxmlformats.org/officeDocument/2006/relationships/notesSlide" Target="/ppt/notesSlides/notesSlide3.xml" Id="R24047ff33b7f41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1200b43b441be" /><Relationship Type="http://schemas.openxmlformats.org/officeDocument/2006/relationships/notesSlide" Target="/ppt/notesSlides/notesSlide4.xml" Id="R227678e947fe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5199d14704358" /><Relationship Type="http://schemas.openxmlformats.org/officeDocument/2006/relationships/image" Target="/ppt/media/image2.png" Id="Rf7b97c59119d4564" /><Relationship Type="http://schemas.openxmlformats.org/officeDocument/2006/relationships/notesSlide" Target="/ppt/notesSlides/notesSlide5.xml" Id="R73a455d04d36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6ee602784531" /><Relationship Type="http://schemas.openxmlformats.org/officeDocument/2006/relationships/image" Target="/ppt/media/image3.png" Id="Rbc50f45f5b0b4967" /><Relationship Type="http://schemas.openxmlformats.org/officeDocument/2006/relationships/notesSlide" Target="/ppt/notesSlides/notesSlide6.xml" Id="R4481db22b451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67074f5e74c38" /><Relationship Type="http://schemas.openxmlformats.org/officeDocument/2006/relationships/image" Target="/ppt/media/image4.png" Id="Ree166acda1394c4f" /><Relationship Type="http://schemas.openxmlformats.org/officeDocument/2006/relationships/notesSlide" Target="/ppt/notesSlides/notesSlide7.xml" Id="Rf575a9476c1b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60788a4f44e3e" /><Relationship Type="http://schemas.openxmlformats.org/officeDocument/2006/relationships/notesSlide" Target="/ppt/notesSlides/notesSlide8.xml" Id="Rd600c6de8f35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2FF99-BBA1-4D95-BE5A-6D36453D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66F650-5651-413D-AD88-31C5C4E4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VTC2027-SPRING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论文进度汇报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00BF068-F545-4144-A5A6-74E30A96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7E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>
                <a:solidFill>
                  <a:srgbClr val="D7EAF8"/>
                </a:solidFill>
                <a:latin typeface="Microsoft YaHei"/>
                <a:ea typeface="Microsoft YaHei"/>
                <a:cs typeface="Microsoft YaHei"/>
              </a:rPr>
              <a:t>GPS L1 C/A 动态车载多径提取与论文进展</a:t>
            </a:r>
          </a:p>
        </p:txBody>
      </p:sp>
      <p:sp>
        <p:nvSpPr>
          <p:cNvPr id="4" name="cover-subtitle2">
            <a:extLst xmlns:a="http://schemas.openxmlformats.org/drawingml/2006/main">
              <a:ext uri="{FF2B5EF4-FFF2-40B4-BE49-F238E27FC236}">
                <a16:creationId xmlns:a16="http://schemas.microsoft.com/office/drawing/2014/main" id="{9EBA0862-17BD-4B02-9894-BDFB9C8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基于 NAV-aided SAGE 的 confirmed path 表征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88350-7DFA-4B2A-B854-20417FF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C20E1A2D-A027-4130-8542-AB049D3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当前阶段：作者审阅 / 投稿前完善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汇报日期：2026 年 8 月 18 日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作者：________________</a:t>
            </a:r>
          </a:p>
        </p:txBody>
      </p:sp>
      <p:sp>
        <p:nvSpPr>
          <p:cNvPr id="7" name="cover-state">
            <a:extLst xmlns:a="http://schemas.openxmlformats.org/drawingml/2006/main">
              <a:ext uri="{FF2B5EF4-FFF2-40B4-BE49-F238E27FC236}">
                <a16:creationId xmlns:a16="http://schemas.microsoft.com/office/drawing/2014/main" id="{2DB18478-2DAA-44AC-8B12-F43D95AA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SCIENCE FROZEN  ·  PRODUCTION STOPPED</a:t>
            </a:r>
          </a:p>
        </p:txBody>
      </p:sp>
    </p:spTree>
    <p:extLst>
      <p:ext uri="{BB962C8B-B14F-4D97-AF65-F5344CB8AC3E}">
        <p14:creationId xmlns:p14="http://schemas.microsoft.com/office/powerpoint/2010/main" val="1956565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2">
            <a:extLst xmlns:a="http://schemas.openxmlformats.org/drawingml/2006/main">
              <a:ext uri="{FF2B5EF4-FFF2-40B4-BE49-F238E27FC236}">
                <a16:creationId xmlns:a16="http://schemas.microsoft.com/office/drawing/2014/main" id="{EEEE8DB5-F488-4A1F-92E0-92F216B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01 / 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9B3DF-F159-4CBE-99DC-BDD1172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9E765F4-D0B1-4797-8769-ABC73FF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论文回答的问题，是“能否从真实动态测量中确认传播路径”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C2FDA94E-ABD0-41EA-8901-F1B2DCC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19626-8D6C-4310-9C71-2D4D6319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动态车载 GNSS 中，多径随车辆运动变化；接收机层面的指标难以直接分离单条传播路径。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5E164-7E93-4E33-939E-567A728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输入：真实 GPS L1 C/A raw-IQ 与 GNSS-SDR 支持结果；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目标：提取时间一致且联合确认的 confirmed paths；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定位：路径提取 + 有限环境描述，不是完整信道模型。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A3883-9BE3-4CD4-B8FB-B7119EC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F55FA-CC86-45A7-A635-F20C6D00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3943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</a:p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把“接收机观测变化”连接到可追溯的路径级 delay / Doppler / power 观测。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647025ea74968"/>
          <a:stretch xmlns:a="http://schemas.openxmlformats.org/drawingml/2006/main"/>
        </p:blipFill>
        <p:spPr>
          <a:xfrm xmlns:a="http://schemas.openxmlformats.org/drawingml/2006/main">
            <a:off x="5562600" y="2931435"/>
            <a:ext cx="6000750" cy="86178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DFAE3-334F-4E90-ACA7-BA34A54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816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图 1  论文采用的测量与处理链</a:t>
            </a:r>
          </a:p>
        </p:txBody>
      </p:sp>
    </p:spTree>
    <p:extLst>
      <p:ext uri="{BB962C8B-B14F-4D97-AF65-F5344CB8AC3E}">
        <p14:creationId xmlns:p14="http://schemas.microsoft.com/office/powerpoint/2010/main" val="1378791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11940E38-3D55-4D3C-B0C8-4D295B92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02 / 方法流程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A59C4-8A69-441A-A395-01E8C560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87EB773-6B35-4FA2-9F6D-A82E79C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最终科学对象由逐级证据收紧，而不是由单个窗口直接判定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C8BF1F1E-BB61-4EB7-8203-B9A95A9E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69E7-0761-4C7A-B3C2-78F70E3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从 raw IQ 到 confirmed path 的处理链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D7125-3F72-46F7-9008-CF8A4FF2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2DF4C-3240-4852-A99E-2FF6A62F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78C4B-F854-4EDA-BF64-E149CC9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0749E-B0F9-435C-AEF9-058F44D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FA0E9-A62E-41BB-9346-176E83F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CD5D4-6423-495C-8066-353271C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D8E12-1290-4956-8E0B-C464D30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33675"/>
            <a:ext cx="2000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06556-3074-4B26-A7C3-EDFFCD28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Raw IQ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真实动态测量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84416-30E5-4A1A-833F-8233ACB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GNSS-SDR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tracking / 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DE5EB-EC13-4E40-A41F-918E76E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NAV 对齐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40-ms observation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A1010-A9D4-4285-93B5-B9135F9A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候选筛选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相关与搜索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49044-61C8-4539-A133-EA0AA1E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Local SAGE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 = 1–4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7AC23-B988-402B-A8C8-541FB3B8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时间一致性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邻窗验证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14C0B-7585-458D-A4F9-A4F9287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联合确认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约 100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CF4D9-6126-4B68-93A7-59ADD4B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333625"/>
            <a:ext cx="1257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Confirmed path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delay / Doppler / power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D562C-F84F-4B85-AC8B-FA0112F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036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F7B0D-9FBF-49F6-94F1-0964515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1002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 ≥ 2：额外信号分量改善局部观测表示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最终确认：还必须满足 temporal consistency + multi-snapshot joint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337C7-0C0F-43A3-9841-B09C30F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路径级结果只使用：excess delay、signed relative Doppler、relative power。</a:t>
            </a:r>
          </a:p>
        </p:txBody>
      </p:sp>
    </p:spTree>
    <p:extLst>
      <p:ext uri="{BB962C8B-B14F-4D97-AF65-F5344CB8AC3E}">
        <p14:creationId xmlns:p14="http://schemas.microsoft.com/office/powerpoint/2010/main" val="2135856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4">
            <a:extLst xmlns:a="http://schemas.openxmlformats.org/drawingml/2006/main">
              <a:ext uri="{FF2B5EF4-FFF2-40B4-BE49-F238E27FC236}">
                <a16:creationId xmlns:a16="http://schemas.microsoft.com/office/drawing/2014/main" id="{DD6C1148-2CCE-44AC-94D9-E295D323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03 / 当前证据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3126F-36F0-43CE-AD95-E0E883E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F3CB5C95-E313-415D-B104-CEB6587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四类环境均有路径级证据，但当前结论仍是 bounded descriptive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6C40DFD3-FA94-4460-AD54-0521D4F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3BB92-1890-4ACD-9354-54D36C22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当前 Tier A+B 论文证据覆盖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08760"/>
                <a:gridCol w="192024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独立场景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 PRN 轨迹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Confirmed events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Confirmed paths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Urban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Mountain/Valley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Highway/Open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Special Reflective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79C95-CEB4-40B6-8753-C51F8C1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0C653-3DFE-4E02-8A7F-9F2678BA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条 confirmed path observations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来自 8 个独立场景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9563B-F288-4AD3-B387-D1FDB61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485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8588B-2F9B-4DD5-8D6F-1E1A9A9D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这些数字用于概括已观测到的确认案例：</a:t>
            </a:r>
          </a:p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不是 occurrence rate、不是统计显著性、也不是完整 stochastic channel model。</a:t>
            </a:r>
          </a:p>
        </p:txBody>
      </p:sp>
    </p:spTree>
    <p:extLst>
      <p:ext uri="{BB962C8B-B14F-4D97-AF65-F5344CB8AC3E}">
        <p14:creationId xmlns:p14="http://schemas.microsoft.com/office/powerpoint/2010/main" val="1002079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2B619E65-A9D4-4528-A4C0-44326FAF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04 / 代表性结果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6623C-A7AD-4732-B47B-5F4F38F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C2F5A184-D43F-4082-B658-BFCCF78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代表性 G25 案例展示：直达分量与次级传播分量可在联合确认后分离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F02B5959-5D04-4ED5-A720-ECD6BE4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97c59119d4564"/>
          <a:stretch xmlns:a="http://schemas.openxmlformats.org/drawingml/2006/main"/>
        </p:blipFill>
        <p:spPr>
          <a:xfrm xmlns:a="http://schemas.openxmlformats.org/drawingml/2006/main">
            <a:off x="609600" y="2070385"/>
            <a:ext cx="6477000" cy="292678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E9CED-AEFF-49D2-AFFD-FE3CD32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Highway/Open 代表性案例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3590-BA3C-4D81-88A4-C601C8D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693FE-D2DD-4E3D-94F9-1494C78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超额时延</a:t>
            </a:r>
          </a:p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1.1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1AA76-7906-4BF0-9F63-394F21A9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相对多普勒</a:t>
            </a:r>
          </a:p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−4.7159 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FE7AE-1812-4FA0-8525-BF7C468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相对功率</a:t>
            </a:r>
          </a:p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−7.8526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B790E-717F-4735-A709-10F31FE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图中展示 direct component 与 secondary propagation component。</a:t>
            </a:r>
          </a:p>
          <a:p xmlns:a="http://schemas.openxmlformats.org/drawingml/2006/main">
            <a:pPr algn="l">
              <a:defRPr sz="1425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这些是路径参数观测，不等同于已证明的具体物理反射体。</a:t>
            </a:r>
          </a:p>
        </p:txBody>
      </p:sp>
    </p:spTree>
    <p:extLst>
      <p:ext uri="{BB962C8B-B14F-4D97-AF65-F5344CB8AC3E}">
        <p14:creationId xmlns:p14="http://schemas.microsoft.com/office/powerpoint/2010/main" val="1350306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6">
            <a:extLst xmlns:a="http://schemas.openxmlformats.org/drawingml/2006/main">
              <a:ext uri="{FF2B5EF4-FFF2-40B4-BE49-F238E27FC236}">
                <a16:creationId xmlns:a16="http://schemas.microsoft.com/office/drawing/2014/main" id="{4FEF8FD3-D24B-4EF5-9EC8-4B0DD45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05 / 层级确认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F89C2-229A-4F08-BF60-2CF8DDE3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C8BBB5AB-F91B-4889-B57A-CC00940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Figure 3 展示的是确认行为：证据逐级收紧，而不是环境代表性统计</a:t>
            </a:r>
          </a:p>
        </p:txBody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AC04B48C-BAEA-48F2-AAA7-1C12FE8E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0f45f5b0b4967"/>
          <a:stretch xmlns:a="http://schemas.openxmlformats.org/drawingml/2006/main"/>
        </p:blipFill>
        <p:spPr>
          <a:xfrm xmlns:a="http://schemas.openxmlformats.org/drawingml/2006/main">
            <a:off x="533400" y="2225651"/>
            <a:ext cx="6953250" cy="25019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4F1F-D840-4802-8762-AD637D7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确认逻辑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5E91D-271F-4F04-83AA-B25188E2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81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输入：有效 40-ms observation windows；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候选筛选 → 时间一致性 → multi-snapshot joint confirmation；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G28：Mountain/Valley 中时间一致候选最终被联合确认排除；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G18：Urban 中最终没有候选保留为 confirmed multipath event。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93219-1D4B-4B70-A307-2306FC32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381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08ADE-C511-4542-8653-AFD5E29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 3 的角色：说明方法确认层级。</a:t>
            </a:r>
          </a:p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环境级汇总由 Table II 与 Figure 4 提供。</a:t>
            </a:r>
          </a:p>
        </p:txBody>
      </p:sp>
    </p:spTree>
    <p:extLst>
      <p:ext uri="{BB962C8B-B14F-4D97-AF65-F5344CB8AC3E}">
        <p14:creationId xmlns:p14="http://schemas.microsoft.com/office/powerpoint/2010/main" val="1027819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7">
            <a:extLst xmlns:a="http://schemas.openxmlformats.org/drawingml/2006/main">
              <a:ext uri="{FF2B5EF4-FFF2-40B4-BE49-F238E27FC236}">
                <a16:creationId xmlns:a16="http://schemas.microsoft.com/office/drawing/2014/main" id="{53258A48-6D43-4F4C-BBE6-61C9FB3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06 / 环境观察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F7F3E-22E2-48E1-B6F2-76E8FFAD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ED4B145C-2539-4B7A-BE64-4F8E1B32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环境级差异可以被观察到，但目前只支持描述性表述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A1B2C0D5-E946-4BAE-943E-DA9F370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66acda1394c4f"/>
          <a:stretch xmlns:a="http://schemas.openxmlformats.org/drawingml/2006/main"/>
        </p:blipFill>
        <p:spPr>
          <a:xfrm xmlns:a="http://schemas.openxmlformats.org/drawingml/2006/main">
            <a:off x="514350" y="2042584"/>
            <a:ext cx="7620000" cy="290618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BD8E0-D056-44A5-9D4A-44665D2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三个 path-level 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D4A3A-158A-4FD3-B5B4-1EAF33B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excess delay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relative power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signed relative Doppler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DF4A3-426A-4ECA-927C-84D0DB38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当前观测：</a:t>
            </a:r>
          </a:p>
          <a:p xmlns:a="http://schemas.openxmlformats.org/drawingml/2006/main">
            <a:pPr algn="l">
              <a:def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Urban：excess-delay range 较宽</a:t>
            </a:r>
          </a:p>
          <a:p xmlns:a="http://schemas.openxmlformats.org/drawingml/2006/main">
            <a:pPr algn="l">
              <a:def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Mountain/Valley：确认路径数较多</a:t>
            </a:r>
          </a:p>
          <a:p xmlns:a="http://schemas.openxmlformats.org/drawingml/2006/main">
            <a:pPr algn="l">
              <a:def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Special Reflective：覆盖两个独立场景</a:t>
            </a:r>
          </a:p>
          <a:p xmlns:a="http://schemas.openxmlformats.org/drawingml/2006/main">
            <a:pPr algn="l">
              <a:def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777"/>
                </a:solidFill>
                <a:latin typeface="Microsoft YaHei"/>
                <a:ea typeface="Microsoft YaHei"/>
                <a:cs typeface="Microsoft YaHei"/>
              </a:rPr>
              <a:t>Highway/Open：样本较少，谨慎解读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2BDA9-D461-4F11-9800-1D35579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4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A21E5-7078-4F32-B6AB-DAE85C0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578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rPr>
              <a:t>这些是描述性观察，</a:t>
            </a:r>
          </a:p>
          <a:p xmlns:a="http://schemas.openxmlformats.org/drawingml/2006/main">
            <a:pPr algn="l">
              <a:defRPr sz="120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rPr>
              <a:t>不代表环境排序、因果证明或发生率模型。</a:t>
            </a:r>
          </a:p>
        </p:txBody>
      </p:sp>
    </p:spTree>
    <p:extLst>
      <p:ext uri="{BB962C8B-B14F-4D97-AF65-F5344CB8AC3E}">
        <p14:creationId xmlns:p14="http://schemas.microsoft.com/office/powerpoint/2010/main" val="1024397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8">
            <a:extLst xmlns:a="http://schemas.openxmlformats.org/drawingml/2006/main">
              <a:ext uri="{FF2B5EF4-FFF2-40B4-BE49-F238E27FC236}">
                <a16:creationId xmlns:a16="http://schemas.microsoft.com/office/drawing/2014/main" id="{1C9B3BEA-13A5-45E1-A9C7-B78152DA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07 / 状态与下一步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95371-5925-47A1-9016-42F2B950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AFF57490-BD77-40E7-A40B-F6D33F3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当前科学内容已冻结，下一步是作者审阅与投稿合规检查</a:t>
            </a:r>
          </a:p>
        </p:txBody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56DC2D8-DD33-4E03-BB27-AAD95FE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VTC2027-Spring | 作者进度汇报 |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D9F11-231C-4326-86F4-27FDD33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24D17-136C-461E-B841-D9C45371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0BBD0-D18F-4290-BF99-7E42B4E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英文 main.tex / PDF 当前 4 页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中文审阅版已同步并 canonical 化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Figure 1–4、Table I–II 已集成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30 条路径用于 bounded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C1A96-4352-4E4A-B22C-E4D419BA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4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5E242-7D34-4BA4-B8F4-5D6A25C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464B4"/>
                </a:solidFill>
                <a:latin typeface="Microsoft YaHei"/>
                <a:ea typeface="Microsoft YaHei"/>
                <a:cs typeface="Microsoft YaHei"/>
              </a:rPr>
              <a:t>当前冻结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682AF-CCD5-4932-8D22-D32BF2E3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SAGE production stopped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不引入 20.46 MHz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不做 LOW/MID/HIGH 统计结论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不写 occurrence rate 或完整统计信道模型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3B43B-E80C-4BD7-8F59-C3AD9F95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82EC-01B5-4410-8272-5B3CAEF5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8A67C-66B7-4A2F-A23B-2586065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作者继续审阅语言和逻辑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检查作者信息与 VTC 格式要求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完成最终 PDF compliance / IEEE check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投稿前最终人工确认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92372-D13B-4498-BDEB-CDA83D0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8115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57344-B88D-4253-9363-5B416A4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05450"/>
            <a:ext cx="777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作者审阅  →  投稿格式合规  →  最终人工确认</a:t>
            </a:r>
          </a:p>
        </p:txBody>
      </p:sp>
    </p:spTree>
    <p:extLst>
      <p:ext uri="{BB962C8B-B14F-4D97-AF65-F5344CB8AC3E}">
        <p14:creationId xmlns:p14="http://schemas.microsoft.com/office/powerpoint/2010/main" val="1844037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2026-08-17T13:30:35.5010000Z</dcterms:created>
  <dcterms:modified xsi:type="dcterms:W3CDTF">2026-08-17T13:30:35.5010000Z</dcterms:modified>
</coreProperties>
</file>