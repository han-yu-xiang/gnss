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2" r:id="rId8"/>
    <p:sldId id="260" r:id="rId9"/>
    <p:sldId id="264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本页只陈述已观察到的现象和待验证归因，不将车机 HMI 未显示定位等同于接收机内部 tracking 或 PVT 已失败。项目审计报告：E:/GNSS_Multipath_Project/docs/DARKROOM_RX_0913_ALL8_SIGNAL_QUALITY_REPORT_CN.md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波形接口参考：GPS IS-GPS-200N 官方接口文档：https://www.gps.gov/interface-control-documents-icds-interface-specifications-iss</a:t>
            </a:r>
          </a:p>
          <a:p>
            <a:r>
              <a:t>项目审计数据：E:/GNSS_Multipath_Project/docs/DARKROOM_RX_0913_ALL8_SIGNAL_QUALITY_REPORT_CN.md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数据来源：E:/GNSS_Multipath_Project/docs/DARKROOM_RX_0913_ALL8_SIGNAL_QUALITY_REPORT_CN.md</a:t>
            </a:r>
          </a:p>
          <a:p>
            <a:r>
              <a:t>审计 namespace：E:/GNSS_Multipath_Project/dataset_generation_logs/darkroom_rx_gnss_sdr_qa/darkroom_rx_0913_all8_20260915_r1</a:t>
            </a:r>
          </a:p>
          <a:p>
            <a:r>
              <a:t>Mountain/Valley POOR 的 INCONCLUSIVE_NO_POSITION_OUTPUT 不能表述为“无法定位”。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本页三张占位框对应用户此前提供的三张车机照片：GOOD、POOR、切回纯 GPS 后仍未恢复。由于图片附件临时路径当前不存在，未伪造或替换为其他图像。车机观察不是内部 GNSS 接收机状态的直接测量。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参考量尺仅作为测试设计参考，不是对车机地图 HMI 的直接合格判据：EU Regulation 2017/79（eCall 型式要求）https://eur-lex.europa.eu/legal-content/EN/TXT/PDF/?uri=CELEX:02017R0079-20251117</a:t>
            </a:r>
          </a:p>
          <a:p>
            <a:r>
              <a:t>RF 接收机阻塞参考：ETSI EN 303 413 https://www.etsi.org/deliver/etsi_en/303400_303499/303413/01.02.01_60/en_303413v010201p.pdf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与 POOR 的定义来自当前暗室参数生成配置和项目计划：GOOD 不是开阔天空基线，而是相对较弱的实测多径压力配置。Clean/BYPASS 是建议新增的控制条件，尚未执行。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59055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 algn="l">
              <a:buNone/>
              <a:defRPr sz="1275" b="1" i="0">
                <a:solidFill>
                  <a:srgbClr val="DDF3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DDF3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暗室信道可用性筛选</a:t>
            </a:r>
            <a:endParaRPr sz="1275" b="1" i="0">
              <a:solidFill>
                <a:srgbClr val="DDF3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76350"/>
            <a:ext cx="8096250" cy="1409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buNone/>
              <a:defRPr sz="3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车机与 GNSS-SDR 双判定</a:t>
            </a:r>
            <a:endParaRPr sz="3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3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以及后续测试流程</a:t>
            </a:r>
            <a:endParaRPr sz="35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3028950"/>
            <a:ext cx="1123950" cy="5715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276600"/>
            <a:ext cx="7810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buNone/>
              <a:defRPr sz="1575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目标：确定可继续用于暗室测试的信道</a:t>
            </a:r>
            <a:endParaRPr sz="1575" b="0" i="0">
              <a:solidFill>
                <a:srgbClr val="B9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4362450"/>
            <a:ext cx="10572750" cy="1009650"/>
          </a:xfrm>
          <a:prstGeom prst="roundRect">
            <a:avLst>
              <a:gd name="adj" fmla="val 7547"/>
            </a:avLst>
          </a:prstGeom>
          <a:solidFill>
            <a:srgbClr val="12324B"/>
          </a:solidFill>
          <a:ln w="9525">
            <a:solidFill>
              <a:srgbClr val="2A5871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4552950"/>
            <a:ext cx="1428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296"/>
          </a:bodyPr>
          <a:lstStyle/>
          <a:p>
            <a:pPr algn="l">
              <a:buNone/>
              <a:defRPr sz="1350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当前目标</a:t>
            </a:r>
            <a:endParaRPr sz="1350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4848225"/>
            <a:ext cx="981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159"/>
          </a:bodyPr>
          <a:lstStyle/>
          <a:p>
            <a:pPr algn="l">
              <a:buNone/>
              <a:defRPr sz="17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相同信号分别观察车机与 GNSS-SDR，按统一规则保留可用信道</a:t>
            </a:r>
            <a:endParaRPr sz="17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590550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 algn="l">
              <a:buNone/>
              <a:defRPr sz="1125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车机未定位时，先用 GNSS-SDR 判断信道是否仍可解算，再决定保留或淘汰</a:t>
            </a:r>
            <a:endParaRPr sz="1125" b="0" i="0">
              <a:solidFill>
                <a:srgbClr val="B9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0" y="6191250"/>
            <a:ext cx="17526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r">
              <a:buNone/>
              <a:defRPr sz="900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2026-09-15 · 内部汇报稿</a:t>
            </a:r>
            <a:endParaRPr sz="900" b="0" i="0">
              <a:solidFill>
                <a:srgbClr val="B9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5334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buNone/>
              <a:def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DARKROOM · GNSS 接收验证</a:t>
            </a:r>
            <a:endParaRPr sz="975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533400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buNone/>
              <a:def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测试链路与判定边界</a:t>
            </a:r>
            <a:endParaRPr sz="25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104900"/>
            <a:ext cx="704850" cy="47625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8587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702"/>
          </a:bodyPr>
          <a:lstStyle/>
          <a:p>
            <a:pPr algn="l">
              <a:buNone/>
              <a:defRPr sz="1425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同一段模拟 GPS L1 C/A 信号，同时进入车机与独立 GNSS-SDR 对照链。</a:t>
            </a:r>
            <a:endParaRPr sz="1425" b="0" i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809750"/>
            <a:ext cx="1562100" cy="685800"/>
          </a:xfrm>
          <a:prstGeom prst="roundRect">
            <a:avLst>
              <a:gd name="adj" fmla="val 11111"/>
            </a:avLst>
          </a:prstGeom>
          <a:solidFill>
            <a:srgbClr val="12324B"/>
          </a:solidFill>
          <a:ln w="0">
            <a:solidFill>
              <a:srgbClr val="12324B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019300"/>
            <a:ext cx="1371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暗室参数表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619375" y="1809750"/>
            <a:ext cx="1562100" cy="685800"/>
          </a:xfrm>
          <a:prstGeom prst="roundRect">
            <a:avLst>
              <a:gd name="adj" fmla="val 11111"/>
            </a:avLst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714625" y="2019300"/>
            <a:ext cx="1371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信道模拟器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705350" y="1809750"/>
            <a:ext cx="1981200" cy="685800"/>
          </a:xfrm>
          <a:prstGeom prst="roundRect">
            <a:avLst>
              <a:gd name="adj" fmla="val 11111"/>
            </a:avLst>
          </a:prstGeom>
          <a:solidFill>
            <a:srgbClr val="12324B"/>
          </a:solidFill>
          <a:ln w="0">
            <a:solidFill>
              <a:srgbClr val="12324B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800600" y="201930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 GPS L1 C/A RF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200275" y="2085975"/>
            <a:ext cx="304800" cy="476250"/>
          </a:xfrm>
          <a:prstGeom prst="rightArrow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4286250" y="2085975"/>
            <a:ext cx="304800" cy="476250"/>
          </a:xfrm>
          <a:prstGeom prst="rightArrow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695950" y="2667000"/>
            <a:ext cx="38100" cy="80010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695950" y="3448050"/>
            <a:ext cx="2857500" cy="3810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95950" y="3448050"/>
            <a:ext cx="38100" cy="112395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53450" y="3448050"/>
            <a:ext cx="38100" cy="3810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7" name="右箭头 16"/>
          <p:cNvSpPr>
            <a:spLocks noGrp="1"/>
          </p:cNvSpPr>
          <p:nvPr/>
        </p:nvSpPr>
        <p:spPr>
          <a:xfrm>
            <a:off x="8591550" y="3228975"/>
            <a:ext cx="266700" cy="476250"/>
          </a:xfrm>
          <a:prstGeom prst="rightArrow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8" name="右箭头 17"/>
          <p:cNvSpPr>
            <a:spLocks noGrp="1"/>
          </p:cNvSpPr>
          <p:nvPr/>
        </p:nvSpPr>
        <p:spPr>
          <a:xfrm>
            <a:off x="5734050" y="4219575"/>
            <a:ext cx="266700" cy="476250"/>
          </a:xfrm>
          <a:prstGeom prst="rightArrow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896350" y="3105150"/>
            <a:ext cx="2724150" cy="704850"/>
          </a:xfrm>
          <a:prstGeom prst="roundRect">
            <a:avLst>
              <a:gd name="adj" fmla="val 10811"/>
            </a:avLst>
          </a:prstGeom>
          <a:solidFill>
            <a:srgbClr val="E2F3EA"/>
          </a:solidFill>
          <a:ln w="9525">
            <a:solidFill>
              <a:srgbClr val="2E9E70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048750" y="32956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2E9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2E9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当前车机 → 地图 / HMI</a:t>
            </a:r>
            <a:endParaRPr sz="1350" b="1" i="0">
              <a:solidFill>
                <a:srgbClr val="2E9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33400" y="4552950"/>
            <a:ext cx="5200650" cy="704850"/>
          </a:xfrm>
          <a:prstGeom prst="roundRect">
            <a:avLst>
              <a:gd name="adj" fmla="val 10811"/>
            </a:avLst>
          </a:prstGeom>
          <a:solidFill>
            <a:srgbClr val="E9EFF4"/>
          </a:solidFill>
          <a:ln w="9525">
            <a:solidFill>
              <a:srgbClr val="C8D4D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4850" y="477202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RF采集 → GNSS-SDR → tracking / PVT / NMEA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57912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三类观测分别记录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000500" y="5743575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C94B4B"/>
          </a:solidFill>
          <a:ln w="0">
            <a:solidFill>
              <a:srgbClr val="C94B4B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076700" y="5772150"/>
            <a:ext cx="1276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Tracking 失锁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62600" y="5753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9885"/>
          </a:bodyPr>
          <a:lstStyle/>
          <a:p>
            <a:pPr algn="ctr">
              <a:buNone/>
              <a:defRPr sz="17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</a:t>
            </a:r>
            <a:endParaRPr sz="17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924550" y="5743575"/>
            <a:ext cx="1295400" cy="285750"/>
          </a:xfrm>
          <a:prstGeom prst="roundRect">
            <a:avLst>
              <a:gd name="adj" fmla="val 26667"/>
            </a:avLst>
          </a:prstGeom>
          <a:solidFill>
            <a:srgbClr val="D18B2F"/>
          </a:solidFill>
          <a:ln w="0">
            <a:solidFill>
              <a:srgbClr val="D18B2F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00750" y="57721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PVT 无输出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353300" y="5753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9885"/>
          </a:bodyPr>
          <a:lstStyle/>
          <a:p>
            <a:pPr algn="ctr">
              <a:buNone/>
              <a:defRPr sz="17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</a:t>
            </a:r>
            <a:endParaRPr sz="17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715250" y="5743575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12324B"/>
          </a:solidFill>
          <a:ln w="0">
            <a:solidFill>
              <a:srgbClr val="12324B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791450" y="5772150"/>
            <a:ext cx="1466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地图未显示定位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33400" y="6534150"/>
            <a:ext cx="11125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24"/>
          </a:bodyPr>
          <a:lstStyle/>
          <a:p>
            <a:pPr algn="l">
              <a:buNone/>
              <a:def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数据来源：0913DarkroomRx GNSS-SDR 独立审计；车机部分为现场黑盒观察</a:t>
            </a:r>
            <a:endParaRPr sz="79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334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buNone/>
              <a:def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DARKROOM · GNSS 接收验证</a:t>
            </a:r>
            <a:endParaRPr sz="975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533400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buNone/>
              <a:def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POOR 信道的独立可用性证据</a:t>
            </a:r>
            <a:endParaRPr sz="25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104900"/>
            <a:ext cx="704850" cy="47625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8587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buNone/>
              <a:defRPr sz="1350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 POOR，GNSS-SDR 结果可区分“可解算”与“证据不足”</a:t>
            </a:r>
            <a:endParaRPr sz="1350" b="0" i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533400" y="1790700"/>
          <a:ext cx="11125200" cy="3000376"/>
        </p:xfrm>
        <a:graphic>
          <a:graphicData uri="http://schemas.openxmlformats.org/drawingml/2006/table">
            <a:tbl>
              <a:tblPr firstRow="1" bandRow="1"/>
              <a:tblGrid>
                <a:gridCol w="1619250"/>
                <a:gridCol w="1619250"/>
                <a:gridCol w="1952625"/>
                <a:gridCol w="1619250"/>
                <a:gridCol w="1714500"/>
                <a:gridCol w="2600325"/>
              </a:tblGrid>
              <a:tr h="7500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定位审计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有效位置输出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最长连续定位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 Tracking 失锁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结论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Highway/Open
POOR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SUSTAINED_FIX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2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103/105 s
覆盖 98.1%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 s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5.370 s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可定位；有短时缺口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Urban
POOR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SUSTAINED_FIX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2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12/12 s
覆盖 100%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s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4.728 s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可定位；观测段较短</a:t>
                      </a:r>
                      <a:r>
                        <a:rPr lang="en-US"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lang="zh-CN" altLang="en-US"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剔除</a:t>
                      </a:r>
                      <a:endParaRPr lang="zh-CN" altLang="en-US"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Mountain/Valley
POOR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D18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INCONCLUSIVE</a:t>
                      </a:r>
                      <a:endParaRPr sz="1050" b="1">
                        <a:solidFill>
                          <a:srgbClr val="D18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1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 NMEA/PVT
但有 tracking/telemetry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1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5.527 s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可以</a:t>
                      </a:r>
                      <a:r>
                        <a:rPr lang="zh-CN"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剔除</a:t>
                      </a:r>
                      <a:endParaRPr lang="zh-CN"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6" name="圆角矩形 5"/>
          <p:cNvSpPr>
            <a:spLocks noGrp="1"/>
          </p:cNvSpPr>
          <p:nvPr/>
        </p:nvSpPr>
        <p:spPr>
          <a:xfrm>
            <a:off x="533400" y="5124450"/>
            <a:ext cx="111252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8D4DF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527685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889"/>
          </a:bodyPr>
          <a:lstStyle/>
          <a:p>
            <a:pPr algn="l">
              <a:buNone/>
              <a:defRPr sz="11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个任务合计</a:t>
            </a:r>
            <a:endParaRPr sz="11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5514975"/>
            <a:ext cx="952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619"/>
          </a:bodyPr>
          <a:lstStyle/>
          <a:p>
            <a:pPr algn="l">
              <a:buNone/>
              <a:def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207</a:t>
            </a:r>
            <a:endParaRPr sz="210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24025" y="55721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buNone/>
              <a:defRPr sz="105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 debounced tracking loss</a:t>
            </a:r>
            <a:endParaRPr sz="105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527685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889"/>
          </a:bodyPr>
          <a:lstStyle/>
          <a:p>
            <a:pPr algn="l">
              <a:buNone/>
              <a:defRPr sz="11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最长单次</a:t>
            </a:r>
            <a:endParaRPr sz="11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76750" y="5514975"/>
            <a:ext cx="12001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619"/>
          </a:bodyPr>
          <a:lstStyle/>
          <a:p>
            <a:pPr algn="l">
              <a:buNone/>
              <a:defRPr sz="2100" b="1" i="0">
                <a:solidFill>
                  <a:srgbClr val="C9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C9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5.639 s</a:t>
            </a:r>
            <a:endParaRPr sz="2100" b="1" i="0">
              <a:solidFill>
                <a:srgbClr val="C94B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6534150"/>
            <a:ext cx="11125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24"/>
          </a:bodyPr>
          <a:lstStyle/>
          <a:p>
            <a:pPr algn="l">
              <a:buNone/>
              <a:def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数据来源：0913DarkroomRx GNSS-SDR 独立审计；车机部分为现场黑盒观察</a:t>
            </a:r>
            <a:endParaRPr sz="79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334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buNone/>
              <a:def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DARKROOM · GNSS 接收验证</a:t>
            </a:r>
            <a:endParaRPr sz="975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533400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buNone/>
              <a:def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车机观察：POOR 输入后的定位显示</a:t>
            </a:r>
            <a:endParaRPr sz="25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104900"/>
            <a:ext cx="704850" cy="47625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1866900"/>
            <a:ext cx="32766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C8D4DF"/>
            </a:solidFill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6750" y="2000250"/>
            <a:ext cx="3009900" cy="2428875"/>
          </a:xfrm>
          <a:prstGeom prst="rect">
            <a:avLst/>
          </a:prstGeom>
          <a:solidFill>
            <a:srgbClr val="EEF3F7"/>
          </a:solidFill>
          <a:ln w="19050">
            <a:solidFill>
              <a:srgbClr val="8BA3B8"/>
            </a:solidFill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6775" y="2714625"/>
            <a:ext cx="26098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原始实拍截图</a:t>
            </a:r>
            <a:endParaRPr sz="14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暂不可访问</a:t>
            </a:r>
            <a:endParaRPr sz="14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重新上传后原图替换</a:t>
            </a:r>
            <a:endParaRPr sz="14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4572000"/>
            <a:ext cx="29718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  GOOD：位置 / 时间 / 精度可见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152900" y="1866900"/>
            <a:ext cx="32766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C8D4DF"/>
            </a:solidFill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286250" y="2000250"/>
            <a:ext cx="3009900" cy="2428875"/>
          </a:xfrm>
          <a:prstGeom prst="rect">
            <a:avLst/>
          </a:prstGeom>
          <a:solidFill>
            <a:srgbClr val="EEF3F7"/>
          </a:solidFill>
          <a:ln w="19050">
            <a:solidFill>
              <a:srgbClr val="8BA3B8"/>
            </a:solidFill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86275" y="2714625"/>
            <a:ext cx="26098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原始实拍截图</a:t>
            </a:r>
            <a:endParaRPr sz="14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暂不可访问</a:t>
            </a:r>
            <a:endParaRPr sz="14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重新上传后原图替换</a:t>
            </a:r>
            <a:endParaRPr sz="1425" b="1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05300" y="4572000"/>
            <a:ext cx="29718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  POOR：精度无、GPS时间未提供</a:t>
            </a:r>
            <a:endParaRPr sz="1125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6534150"/>
            <a:ext cx="11125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24"/>
          </a:bodyPr>
          <a:lstStyle/>
          <a:p>
            <a:pPr algn="l">
              <a:buNone/>
              <a:def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现场照片：由用户提供；当前工程目录中未找到原始图片文件，因此本页保留原图替换框</a:t>
            </a:r>
            <a:endParaRPr sz="79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435" y="2077085"/>
            <a:ext cx="2971165" cy="22275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rcRect t="33395" b="28021"/>
          <a:stretch>
            <a:fillRect/>
          </a:stretch>
        </p:blipFill>
        <p:spPr>
          <a:xfrm>
            <a:off x="4315460" y="2492375"/>
            <a:ext cx="2979420" cy="1533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buNone/>
              <a:defRPr sz="975" b="1" i="0">
                <a:solidFill>
                  <a:srgbClr val="DDF3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DDF3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信道可用性判定</a:t>
            </a:r>
            <a:endParaRPr sz="975" b="1" i="0">
              <a:solidFill>
                <a:srgbClr val="DDF3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533400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先决定信道能否用于测试，再讨论车机差异</a:t>
            </a:r>
            <a:endParaRPr sz="2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104900"/>
            <a:ext cx="704850" cy="47625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graphicFrame>
        <p:nvGraphicFramePr>
          <p:cNvPr id="14" name="表格 13"/>
          <p:cNvGraphicFramePr/>
          <p:nvPr/>
        </p:nvGraphicFramePr>
        <p:xfrm>
          <a:off x="533400" y="1628775"/>
          <a:ext cx="11125200" cy="3028950"/>
        </p:xfrm>
        <a:graphic>
          <a:graphicData uri="http://schemas.openxmlformats.org/drawingml/2006/table">
            <a:tbl>
              <a:tblPr firstRow="1" bandRow="1"/>
              <a:tblGrid>
                <a:gridCol w="3429000"/>
                <a:gridCol w="3714750"/>
                <a:gridCol w="3981450"/>
              </a:tblGrid>
              <a:tr h="60579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观测结果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信道结论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处理建议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车机可定位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GNSS-SDR可定位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可用信道</a:t>
                      </a:r>
                      <a:endParaRPr sz="1050" b="1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纳入后续测试</a:t>
                      </a:r>
                      <a:endParaRPr sz="1050" b="0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车机失败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GNSS-SDR可定位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暂不淘汰</a:t>
                      </a:r>
                      <a:endParaRPr sz="1050" b="1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 Vehicle B 复测</a:t>
                      </a:r>
                      <a:r>
                        <a:rPr 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highway\special </a:t>
                      </a:r>
                      <a:r>
                        <a:rPr lang="zh-CN" altLang="en-US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lang="en-US" alt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poor</a:t>
                      </a:r>
                      <a:r>
                        <a:rPr lang="zh-CN" altLang="en-US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需要复测）</a:t>
                      </a:r>
                      <a:endParaRPr lang="zh-CN" altLang="en-US" sz="1050" b="0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alt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Highway/Open poor</a:t>
                      </a:r>
                      <a:r>
                        <a:rPr lang="zh-CN" altLang="en-US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从约 09:00:30.98 到 09:02:14.98 有效定位</a:t>
                      </a:r>
                      <a:endParaRPr lang="zh-CN" altLang="en-US" sz="1050" b="0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alt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Urban poor：</a:t>
                      </a:r>
                      <a:r>
                        <a:rPr lang="zh-CN" altLang="en-US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只有 09:01:54.98 至 09:02:05.98 的12个有效定位历元</a:t>
                      </a:r>
                      <a:endParaRPr lang="zh-CN" altLang="en-US" sz="1050" b="0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车机失败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GNSS-SDR失败（链路完整）</a:t>
                      </a:r>
                      <a:endParaRPr sz="1050" b="0">
                        <a:solidFill>
                          <a:srgbClr val="102A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当前配置过严</a:t>
                      </a:r>
                      <a:endParaRPr sz="1050" b="1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淘汰当前信道版本</a:t>
                      </a:r>
                      <a:r>
                        <a:rPr 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（当前淘汰</a:t>
                      </a:r>
                      <a:r>
                        <a:rPr lang="en-US" alt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Mountain poor</a:t>
                      </a:r>
                      <a:r>
                        <a:rPr lang="zh-CN" altLang="en-US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050" b="0">
                          <a:solidFill>
                            <a:srgbClr val="D9ED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urban poor)</a:t>
                      </a:r>
                      <a:endParaRPr lang="en-US" altLang="zh-CN" sz="1050" b="0">
                        <a:solidFill>
                          <a:srgbClr val="D9EDF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2324B"/>
                    </a:solidFill>
                  </a:tcPr>
                </a:tc>
              </a:tr>
            </a:tbl>
          </a:graphicData>
        </a:graphic>
      </p:graphicFrame>
      <p:sp>
        <p:nvSpPr>
          <p:cNvPr id="5" name="圆角矩形 4"/>
          <p:cNvSpPr>
            <a:spLocks noGrp="1"/>
          </p:cNvSpPr>
          <p:nvPr/>
        </p:nvSpPr>
        <p:spPr>
          <a:xfrm>
            <a:off x="533400" y="5048250"/>
            <a:ext cx="11125200" cy="895350"/>
          </a:xfrm>
          <a:prstGeom prst="roundRect">
            <a:avLst>
              <a:gd name="adj" fmla="val 8511"/>
            </a:avLst>
          </a:prstGeom>
          <a:solidFill>
            <a:srgbClr val="12324B"/>
          </a:solidFill>
          <a:ln w="9525">
            <a:solidFill>
              <a:srgbClr val="2A5871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52197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buNone/>
              <a:defRPr sz="12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推荐执行顺序</a:t>
            </a:r>
            <a:endParaRPr sz="1275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553402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Clean启动检查 → 1个GOOD → 1个POOR </a:t>
            </a:r>
            <a:endParaRPr sz="16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6191250"/>
            <a:ext cx="11125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ctr">
              <a:buNone/>
              <a:defRPr sz="975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 i="0">
                <a:solidFill>
                  <a:srgbClr val="B9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最终输出：可用 / 待跨车验证 / 淘汰</a:t>
            </a:r>
            <a:endParaRPr sz="975" b="0" i="0">
              <a:solidFill>
                <a:srgbClr val="B9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5334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buNone/>
              <a:def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DARKROOM · GNSS 接收验证</a:t>
            </a:r>
            <a:endParaRPr sz="975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533400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l">
              <a:buNone/>
              <a:def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 / POOR：测试压力配置</a:t>
            </a:r>
            <a:endParaRPr sz="25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104900"/>
            <a:ext cx="704850" cy="47625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858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buNone/>
              <a:defRPr sz="1350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当前标签是项目内的相对压力配置，不是汽车行业标准等级。</a:t>
            </a:r>
            <a:endParaRPr sz="1350" b="0" i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943100"/>
            <a:ext cx="3371850" cy="95250"/>
          </a:xfrm>
          <a:prstGeom prst="rect">
            <a:avLst/>
          </a:prstGeom>
          <a:solidFill>
            <a:srgbClr val="12324B"/>
          </a:solidFill>
          <a:ln w="0">
            <a:solidFill>
              <a:srgbClr val="12324B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038350"/>
            <a:ext cx="3371850" cy="1924050"/>
          </a:xfrm>
          <a:prstGeom prst="rect">
            <a:avLst/>
          </a:prstGeom>
          <a:solidFill>
            <a:srgbClr val="E9EFF4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324100"/>
            <a:ext cx="28765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buNone/>
              <a:defRPr sz="1875" b="1" i="0">
                <a:solidFill>
                  <a:srgbClr val="12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2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Clean / 无附加信道</a:t>
            </a:r>
            <a:endParaRPr sz="1875" b="1" i="0">
              <a:solidFill>
                <a:srgbClr val="12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895600"/>
            <a:ext cx="2876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已确认车机正常显示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276600"/>
            <a:ext cx="2876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ctr">
              <a:buNone/>
              <a:def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每日启动与恢复检查</a:t>
            </a:r>
            <a:endParaRPr sz="120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10075" y="1943100"/>
            <a:ext cx="3371850" cy="95250"/>
          </a:xfrm>
          <a:prstGeom prst="rect">
            <a:avLst/>
          </a:prstGeom>
          <a:solidFill>
            <a:srgbClr val="18A4B8"/>
          </a:solidFill>
          <a:ln w="0">
            <a:solidFill>
              <a:srgbClr val="18A4B8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10075" y="2038350"/>
            <a:ext cx="3371850" cy="1924050"/>
          </a:xfrm>
          <a:prstGeom prst="rect">
            <a:avLst/>
          </a:prstGeom>
          <a:solidFill>
            <a:srgbClr val="DDF3F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57725" y="2324100"/>
            <a:ext cx="28765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buNone/>
              <a:defRPr sz="18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</a:t>
            </a:r>
            <a:endParaRPr sz="1875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57725" y="2895600"/>
            <a:ext cx="2876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来自实测多径窗口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57725" y="3276600"/>
            <a:ext cx="2876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7917"/>
          </a:bodyPr>
          <a:lstStyle/>
          <a:p>
            <a:pPr algn="ctr">
              <a:buNone/>
              <a:def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来自实测多径窗口</a:t>
            </a:r>
            <a:endParaRPr sz="120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不是“无多径”</a:t>
            </a:r>
            <a:endParaRPr sz="120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86750" y="1943100"/>
            <a:ext cx="3371850" cy="95250"/>
          </a:xfrm>
          <a:prstGeom prst="rect">
            <a:avLst/>
          </a:prstGeom>
          <a:solidFill>
            <a:srgbClr val="C94B4B"/>
          </a:solidFill>
          <a:ln w="0">
            <a:solidFill>
              <a:srgbClr val="C94B4B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2038350"/>
            <a:ext cx="3371850" cy="1924050"/>
          </a:xfrm>
          <a:prstGeom prst="rect">
            <a:avLst/>
          </a:prstGeom>
          <a:solidFill>
            <a:srgbClr val="FBE9E9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2324100"/>
            <a:ext cx="28765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buNone/>
              <a:defRPr sz="1875" b="1" i="0">
                <a:solidFill>
                  <a:srgbClr val="C9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C9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POOR</a:t>
            </a:r>
            <a:endParaRPr sz="1875" b="1" i="0">
              <a:solidFill>
                <a:srgbClr val="C94B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34400" y="2895600"/>
            <a:ext cx="2876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buNone/>
              <a:def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更强压力配置</a:t>
            </a:r>
            <a:endParaRPr sz="1350" b="1" i="0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34400" y="3276600"/>
            <a:ext cx="2876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 algn="ctr">
              <a:buNone/>
              <a:def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用于可用性筛选</a:t>
            </a:r>
            <a:endParaRPr sz="120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452437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22"/>
          </a:bodyPr>
          <a:lstStyle/>
          <a:p>
            <a:pPr algn="l">
              <a:buNone/>
              <a:defRPr sz="1800" b="1" i="0">
                <a:solidFill>
                  <a:srgbClr val="12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2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 也按测试信道看待</a:t>
            </a:r>
            <a:endParaRPr sz="1800" b="1" i="0">
              <a:solidFill>
                <a:srgbClr val="12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4914900"/>
            <a:ext cx="714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buNone/>
              <a:defRPr sz="1350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GOOD和POOR都来自实测多径窗口，因此都可能对车机形成压力。</a:t>
            </a:r>
            <a:endParaRPr sz="1350" b="0" i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286750" y="4514850"/>
            <a:ext cx="33718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8A4B8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496300" y="46577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 algn="ctr">
              <a:buNone/>
              <a:defRPr sz="1350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判定目标：</a:t>
            </a:r>
            <a:endParaRPr sz="1350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18A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保留可继续测试的信道</a:t>
            </a:r>
            <a:endParaRPr sz="1350" b="1" i="0">
              <a:solidFill>
                <a:srgbClr val="18A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6534150"/>
            <a:ext cx="11125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24"/>
          </a:bodyPr>
          <a:lstStyle/>
          <a:p>
            <a:pPr algn="l">
              <a:buNone/>
              <a:def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 i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数据来源：0913DarkroomRx GNSS-SDR 独立审计；车机部分为现场黑盒观察</a:t>
            </a:r>
            <a:endParaRPr sz="790" b="0" i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0740" y="339725"/>
            <a:ext cx="6903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本期进度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解决</a:t>
            </a:r>
            <a:r>
              <a:rPr lang="en-US" altLang="zh-CN"/>
              <a:t>rf-catcher</a:t>
            </a:r>
            <a:r>
              <a:rPr lang="zh-CN" altLang="en-US"/>
              <a:t>在暗室里无法接收</a:t>
            </a:r>
            <a:r>
              <a:rPr lang="en-US" altLang="zh-CN"/>
              <a:t>GNSS</a:t>
            </a:r>
            <a:r>
              <a:rPr lang="zh-CN" altLang="en-US"/>
              <a:t>信号的问题</a:t>
            </a:r>
            <a:br>
              <a:rPr lang="zh-CN" altLang="en-US"/>
            </a:br>
            <a:r>
              <a:rPr lang="en-US" altLang="zh-CN"/>
              <a:t>2.</a:t>
            </a:r>
            <a:r>
              <a:rPr lang="zh-CN" altLang="en-US"/>
              <a:t>自发自收</a:t>
            </a:r>
            <a:r>
              <a:rPr lang="en-US" altLang="zh-CN"/>
              <a:t>8</a:t>
            </a:r>
            <a:r>
              <a:rPr lang="zh-CN" altLang="en-US"/>
              <a:t>组模拟器信号并</a:t>
            </a:r>
            <a:r>
              <a:rPr lang="zh-CN" altLang="en-US"/>
              <a:t>解析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961390" y="1332865"/>
          <a:ext cx="7965440" cy="3000375"/>
        </p:xfrm>
        <a:graphic>
          <a:graphicData uri="http://schemas.openxmlformats.org/drawingml/2006/table">
            <a:tbl>
              <a:tblPr/>
              <a:tblGrid>
                <a:gridCol w="1137920"/>
                <a:gridCol w="1137920"/>
                <a:gridCol w="1137920"/>
                <a:gridCol w="1137920"/>
                <a:gridCol w="1137920"/>
                <a:gridCol w="1137920"/>
                <a:gridCol w="1137920"/>
              </a:tblGrid>
              <a:tr h="217805">
                <a:tc>
                  <a:txBody>
                    <a:bodyPr/>
                    <a:p>
                      <a:r>
                        <a:rPr lang="zh-CN" altLang="en-US" sz="1100"/>
                        <a:t>场景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信号时长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定位结果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首次定位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失锁次数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确认重捕获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简要判断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Highway/Open GOOD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138.1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110/111</a:t>
                      </a:r>
                      <a:r>
                        <a:rPr lang="zh-CN" altLang="en-US" sz="1100"/>
                        <a:t>，覆盖率</a:t>
                      </a:r>
                      <a:r>
                        <a:rPr lang="en-US" altLang="zh-CN" sz="1100"/>
                        <a:t>99.1%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27–28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可持续定位，最长</a:t>
                      </a:r>
                      <a:r>
                        <a:rPr lang="en-US" altLang="zh-CN" sz="1100"/>
                        <a:t>74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Highway/Open POOR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133.8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103/105</a:t>
                      </a:r>
                      <a:r>
                        <a:rPr lang="zh-CN" altLang="en-US" sz="1100"/>
                        <a:t>，覆盖率</a:t>
                      </a:r>
                      <a:r>
                        <a:rPr lang="en-US" altLang="zh-CN" sz="1100"/>
                        <a:t>98.1%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29–30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可定位，最长连续</a:t>
                      </a:r>
                      <a:r>
                        <a:rPr lang="en-US" altLang="zh-CN" sz="1100"/>
                        <a:t>46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Highway/Open RAIN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135.0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106/107</a:t>
                      </a:r>
                      <a:r>
                        <a:rPr lang="zh-CN" altLang="en-US" sz="1100"/>
                        <a:t>，覆盖率</a:t>
                      </a:r>
                      <a:r>
                        <a:rPr lang="en-US" altLang="zh-CN" sz="1100"/>
                        <a:t>99.1%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28–29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可定位，最长连续</a:t>
                      </a:r>
                      <a:r>
                        <a:rPr lang="en-US" altLang="zh-CN" sz="1100"/>
                        <a:t>65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Mountain/Valley GOOD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124.5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无</a:t>
                      </a:r>
                      <a:r>
                        <a:rPr lang="en-US" altLang="zh-CN" sz="1100"/>
                        <a:t>NMEA/PVT</a:t>
                      </a:r>
                      <a:r>
                        <a:rPr lang="zh-CN" altLang="en-US" sz="1100"/>
                        <a:t>输出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—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暂无法判定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Mountain/Valley POOR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132.5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无</a:t>
                      </a:r>
                      <a:r>
                        <a:rPr lang="en-US" altLang="zh-CN" sz="1100"/>
                        <a:t>NMEA/PVT</a:t>
                      </a:r>
                      <a:r>
                        <a:rPr lang="zh-CN" altLang="en-US" sz="1100"/>
                        <a:t>输出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—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40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暂无法判定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Mountain/Valley RAIN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137.7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67/85</a:t>
                      </a:r>
                      <a:r>
                        <a:rPr lang="zh-CN" altLang="en-US" sz="1100"/>
                        <a:t>，覆盖率</a:t>
                      </a:r>
                      <a:r>
                        <a:rPr lang="en-US" altLang="zh-CN" sz="1100"/>
                        <a:t>78.8%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53–54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可定位但有</a:t>
                      </a:r>
                      <a:r>
                        <a:rPr lang="en-US" altLang="zh-CN" sz="1100"/>
                        <a:t>18 s</a:t>
                      </a:r>
                      <a:r>
                        <a:rPr lang="zh-CN" altLang="en-US" sz="1100"/>
                        <a:t>输出缺口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r>
                        <a:rPr lang="en-US" altLang="zh-CN" sz="1100"/>
                        <a:t>Urban GOOD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133.9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12/12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约</a:t>
                      </a:r>
                      <a:r>
                        <a:rPr lang="en-US" altLang="zh-CN" sz="1100"/>
                        <a:t>59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29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仅观察到约</a:t>
                      </a:r>
                      <a:r>
                        <a:rPr lang="en-US" altLang="zh-CN" sz="1100"/>
                        <a:t>12 s</a:t>
                      </a:r>
                      <a:r>
                        <a:rPr lang="zh-CN" altLang="en-US" sz="1100"/>
                        <a:t>连续定位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5610">
                <a:tc>
                  <a:txBody>
                    <a:bodyPr/>
                    <a:p>
                      <a:r>
                        <a:rPr lang="en-US" altLang="zh-CN" sz="1100"/>
                        <a:t>Urban POOR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133.7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12/12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约</a:t>
                      </a:r>
                      <a:r>
                        <a:rPr lang="en-US" altLang="zh-CN" sz="1100"/>
                        <a:t>59 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26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可短时定位，不代表全程可用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30935" y="4620895"/>
            <a:ext cx="89890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</a:t>
            </a:r>
            <a:br>
              <a:rPr lang="zh-CN" altLang="en-US"/>
            </a:br>
            <a:r>
              <a:rPr lang="en-US" altLang="zh-CN"/>
              <a:t>Good</a:t>
            </a:r>
            <a:r>
              <a:rPr lang="zh-CN" altLang="en-US"/>
              <a:t>场景出现无法定位问题（随机种子偶然性</a:t>
            </a:r>
            <a:r>
              <a:rPr lang="en-US" altLang="zh-CN"/>
              <a:t>/</a:t>
            </a:r>
            <a:r>
              <a:rPr lang="zh-CN" altLang="en-US"/>
              <a:t>收取信号时间不够长</a:t>
            </a:r>
            <a:r>
              <a:rPr lang="en-US" altLang="zh-CN"/>
              <a:t>...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zh-CN">
                <a:ea typeface="宋体" panose="02010600030101010101" pitchFamily="2" charset="-122"/>
              </a:rPr>
              <a:t>---</a:t>
            </a:r>
            <a:r>
              <a:rPr lang="zh-CN" altLang="en-US">
                <a:ea typeface="宋体" panose="02010600030101010101" pitchFamily="2" charset="-122"/>
              </a:rPr>
              <a:t>措施：每个场景每种质量生成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组参数表选取可用的</a:t>
            </a:r>
            <a:br>
              <a:rPr lang="zh-CN" altLang="en-US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51180" y="188595"/>
            <a:ext cx="1078484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面向 </a:t>
            </a:r>
            <a:r>
              <a:rPr lang="en-US" altLang="zh-CN" sz="1600"/>
              <a:t>GB/T 45086.1 </a:t>
            </a:r>
            <a:r>
              <a:rPr lang="zh-CN" altLang="en-US" sz="1600"/>
              <a:t>车载卫星定位测试场景，构建可控、可重复的 </a:t>
            </a:r>
            <a:r>
              <a:rPr lang="en-US" altLang="zh-CN" sz="1600"/>
              <a:t>GNSS </a:t>
            </a:r>
            <a:r>
              <a:rPr lang="zh-CN" altLang="en-US" sz="1600"/>
              <a:t>信号与信道仿真平台，支持 </a:t>
            </a:r>
            <a:r>
              <a:rPr lang="en-US" altLang="zh-CN" sz="1600"/>
              <a:t>GPS</a:t>
            </a:r>
            <a:r>
              <a:rPr lang="zh-CN" altLang="en-US" sz="1600"/>
              <a:t>、北斗等多星座混合仿真、静态</a:t>
            </a:r>
            <a:r>
              <a:rPr lang="en-US" altLang="zh-CN" sz="1600"/>
              <a:t>/</a:t>
            </a:r>
            <a:r>
              <a:rPr lang="zh-CN" altLang="en-US" sz="1600"/>
              <a:t>动态车辆轨迹、卫星几何关系以及 </a:t>
            </a:r>
            <a:r>
              <a:rPr lang="en-US" altLang="zh-CN" sz="1600"/>
              <a:t>LOS/NLOS</a:t>
            </a:r>
            <a:r>
              <a:rPr lang="zh-CN" altLang="en-US" sz="1600"/>
              <a:t>、多径、时延、多普勒和功率衰减等复杂传播环境，可为定位精度、弱信号、失锁及重捕获等车载 </a:t>
            </a:r>
            <a:r>
              <a:rPr lang="en-US" altLang="zh-CN" sz="1600"/>
              <a:t>GNSS </a:t>
            </a:r>
            <a:r>
              <a:rPr lang="zh-CN" altLang="en-US" sz="1600"/>
              <a:t>性能测试提供可重复信号源。</a:t>
            </a:r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1018540"/>
            <a:ext cx="5195570" cy="26619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3525" y="3860800"/>
            <a:ext cx="948944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在现有场景上用一个模型生成多组数据，并且自发自收，整理适合暗室测试的信道，并输出仿真信号特征，以供测试选择（预计耗时：</a:t>
            </a:r>
            <a:r>
              <a:rPr lang="en-US" altLang="zh-CN"/>
              <a:t>1</a:t>
            </a:r>
            <a:r>
              <a:rPr lang="zh-CN" altLang="en-US"/>
              <a:t>周）</a:t>
            </a:r>
            <a:br>
              <a:rPr lang="zh-CN" altLang="en-US"/>
            </a:br>
            <a:r>
              <a:rPr lang="zh-CN" altLang="en-US"/>
              <a:t>之后可以冻结信道库</a:t>
            </a:r>
            <a:br>
              <a:rPr lang="zh-CN" altLang="en-US"/>
            </a:br>
            <a:r>
              <a:rPr lang="zh-CN" altLang="en-US"/>
              <a:t>个人建议方案：</a:t>
            </a:r>
            <a:r>
              <a:rPr lang="en-US" altLang="zh-CN"/>
              <a:t>1.</a:t>
            </a:r>
            <a:r>
              <a:rPr lang="zh-CN" altLang="en-US"/>
              <a:t>产生</a:t>
            </a:r>
            <a:r>
              <a:rPr lang="en-US" altLang="zh-CN"/>
              <a:t>64</a:t>
            </a:r>
            <a:r>
              <a:rPr lang="zh-CN" altLang="en-US"/>
              <a:t>个样本（每个信道</a:t>
            </a:r>
            <a:r>
              <a:rPr lang="en-US" altLang="zh-CN"/>
              <a:t>4</a:t>
            </a:r>
            <a:r>
              <a:rPr lang="zh-CN" altLang="en-US"/>
              <a:t>组）进行自发自收</a:t>
            </a:r>
            <a:br>
              <a:rPr lang="zh-CN" altLang="en-US"/>
            </a:br>
            <a:r>
              <a:rPr lang="en-US" altLang="zh-CN"/>
              <a:t>2.GNSS-SDR</a:t>
            </a:r>
            <a:r>
              <a:rPr lang="zh-CN" altLang="en-US"/>
              <a:t>处理剔除</a:t>
            </a:r>
            <a:r>
              <a:rPr lang="en-US" altLang="zh-CN"/>
              <a:t>gnss-sdr</a:t>
            </a:r>
            <a:r>
              <a:rPr lang="zh-CN" altLang="en-US"/>
              <a:t>也无法定位的样本</a:t>
            </a:r>
            <a:br>
              <a:rPr lang="zh-CN" altLang="en-US"/>
            </a:br>
            <a:r>
              <a:rPr lang="en-US" altLang="zh-CN"/>
              <a:t>3.</a:t>
            </a:r>
            <a:r>
              <a:rPr lang="zh-CN" altLang="en-US"/>
              <a:t>用</a:t>
            </a:r>
            <a:r>
              <a:rPr lang="en-US" altLang="zh-CN"/>
              <a:t>Gnss-sdr</a:t>
            </a:r>
            <a:r>
              <a:rPr lang="zh-CN" altLang="en-US"/>
              <a:t>可以定位的发送给车机</a:t>
            </a:r>
            <a:br>
              <a:rPr lang="zh-CN" altLang="en-US"/>
            </a:br>
            <a:r>
              <a:rPr lang="en-US" altLang="zh-CN"/>
              <a:t>4.</a:t>
            </a:r>
            <a:r>
              <a:rPr lang="zh-CN" altLang="en-US"/>
              <a:t>如果车机无法定位再安排车进行对比</a:t>
            </a:r>
            <a:br>
              <a:rPr lang="zh-CN" altLang="en-US"/>
            </a:br>
            <a:r>
              <a:rPr lang="en-US" altLang="zh-CN"/>
              <a:t>5.</a:t>
            </a:r>
            <a:r>
              <a:rPr lang="zh-CN" altLang="en-US"/>
              <a:t>如果对比车也无法接收则认为信道过于苛刻</a:t>
            </a:r>
            <a:br>
              <a:rPr lang="zh-CN" altLang="en-US"/>
            </a:br>
            <a:r>
              <a:rPr lang="en-US" altLang="zh-CN"/>
              <a:t>6.</a:t>
            </a:r>
            <a:r>
              <a:rPr lang="zh-CN" altLang="en-US"/>
              <a:t>保留</a:t>
            </a:r>
            <a:r>
              <a:rPr lang="en-US" altLang="zh-CN"/>
              <a:t>Gnss-sdr</a:t>
            </a:r>
            <a:r>
              <a:rPr lang="zh-CN" altLang="en-US"/>
              <a:t>可定位</a:t>
            </a:r>
            <a:r>
              <a:rPr lang="en-US" altLang="zh-CN"/>
              <a:t>&amp;</a:t>
            </a:r>
            <a:r>
              <a:rPr lang="zh-CN" altLang="en-US"/>
              <a:t>不同型号车可定位</a:t>
            </a:r>
            <a:r>
              <a:rPr lang="en-US" altLang="zh-CN"/>
              <a:t> </a:t>
            </a:r>
            <a:r>
              <a:rPr lang="zh-CN" altLang="en-US"/>
              <a:t>的信道</a:t>
            </a:r>
            <a:r>
              <a:rPr lang="en-US" altLang="zh-CN"/>
              <a:t> </a:t>
            </a:r>
            <a:r>
              <a:rPr lang="zh-CN" altLang="en-US"/>
              <a:t>进入信道库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18020" y="1884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每次换信道</a:t>
            </a:r>
            <a:r>
              <a:rPr lang="en-US" altLang="zh-CN"/>
              <a:t> </a:t>
            </a:r>
            <a:r>
              <a:rPr lang="zh-CN" altLang="en-US"/>
              <a:t>重启车机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31990" y="1484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资源限制：车机</a:t>
            </a:r>
            <a:r>
              <a:rPr lang="en-US" altLang="zh-CN"/>
              <a:t>GNSS</a:t>
            </a:r>
            <a:r>
              <a:rPr lang="zh-CN" altLang="en-US"/>
              <a:t>接收</a:t>
            </a:r>
            <a:r>
              <a:rPr lang="zh-CN" altLang="en-US"/>
              <a:t>不可见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2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3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4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5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6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7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ags/tag8.xml><?xml version="1.0" encoding="utf-8"?>
<p:tagLst xmlns:p="http://schemas.openxmlformats.org/presentationml/2006/main">
  <p:tag name="KSO_WM_DIAGRAM_VIRTUALLY_FRAME" val="{&quot;height&quot;:247.5,&quot;left&quot;:42,&quot;top&quot;:147,&quot;width&quot;:828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2522</Words>
  <Application>WPS 演示</Application>
  <PresentationFormat>Converted Presentation</PresentationFormat>
  <Paragraphs>341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FFF</cp:lastModifiedBy>
  <cp:revision>2</cp:revision>
  <dcterms:created xsi:type="dcterms:W3CDTF">2026-09-15T03:38:35Z</dcterms:created>
  <dcterms:modified xsi:type="dcterms:W3CDTF">2026-09-15T07:48:36Z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76690287126D488CA791ABFF98173834_12</vt:lpwstr>
  </property>
</Properties>
</file>