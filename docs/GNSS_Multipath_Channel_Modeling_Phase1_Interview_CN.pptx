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docs/ACADEMIC_CHANNEL_MODELING_MASTER_PLAN.md</a:t>
            </a:r>
          </a:p>
          <a:p>
            <a:r>
              <a:t>- docs/PHASE1_TRADITIONAL_CHANNEL_MODELING_SCIENTIFIC_CLOSURE.md</a:t>
            </a:r>
          </a:p>
          <a:p>
            <a:r>
              <a:t>[/Sources]</a:t>
            </a:r>
          </a:p>
          <a:p/>
          <a:p>
            <a:r>
              <a:t>[Speaker cue]</a:t>
            </a:r>
          </a:p>
          <a:p>
            <a:r>
              <a:t>开场先讲问题和目标：这不是一个完整电磁真值模型，而是把真实测量中的多径参数变成有条件、有边界的统计基线。</a:t>
            </a:r>
          </a:p>
          <a:p>
            <a:r>
              <a:t>[/Speaker cue]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docs/PHASE1_TRADITIONAL_CHANNEL_MODELING_SCIENTIFIC_CLOSURE.md</a:t>
            </a:r>
          </a:p>
          <a:p>
            <a:r>
              <a:t>- dataset_generation_logs/channel_modeling/environment_elevation_stage3_path_model_v1_20260829_r3/model_manifest.json</a:t>
            </a:r>
          </a:p>
          <a:p>
            <a:r>
              <a:t>[/Sources]</a:t>
            </a:r>
          </a:p>
          <a:p/>
          <a:p>
            <a:r>
              <a:t>[Speaker cue]</a:t>
            </a:r>
          </a:p>
          <a:p>
            <a:r>
              <a:t>这一页只讲数据链路：从真实车辆动态采集开始，经过 GNSS-SDR 和 NAV-aided SAGE，最后进入 Stage3 学术总体。</a:t>
            </a:r>
          </a:p>
          <a:p>
            <a:r>
              <a:t>[/Speaker cue]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docs/PHASE1_TRADITIONAL_CHANNEL_MODELING_SCIENTIFIC_CLOSURE.md</a:t>
            </a:r>
          </a:p>
          <a:p>
            <a:r>
              <a:t>- docs/GNSS_SAGE_ENGINEERING_HANDOFF_CURRENT.md</a:t>
            </a:r>
          </a:p>
          <a:p>
            <a:r>
              <a:t>[/Sources]</a:t>
            </a:r>
          </a:p>
          <a:p/>
          <a:p>
            <a:r>
              <a:t>[Speaker cue]</a:t>
            </a:r>
          </a:p>
          <a:p>
            <a:r>
              <a:t>用一条线讲清楚 Stage0–Stage4：Stage0/1 是窗口和候选，Stage2 做 fractional SAGE 参数估计，Stage3 做时间持续性筛选，Stage4 是更严格的联合确认。</a:t>
            </a:r>
          </a:p>
          <a:p>
            <a:r>
              <a:t>[/Speaker cue]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docs/PHASE1_TRADITIONAL_CHANNEL_MODELING_SCIENTIFIC_CLOSURE.md</a:t>
            </a:r>
          </a:p>
          <a:p>
            <a:r>
              <a:t>- dataset_generation_logs/channel_modeling/environment_elevation_stage3_path_model_v1_20260829_r3/model_manifest.json</a:t>
            </a:r>
          </a:p>
          <a:p>
            <a:r>
              <a:t>[/Sources]</a:t>
            </a:r>
          </a:p>
          <a:p/>
          <a:p>
            <a:r>
              <a:t>[Speaker cue]</a:t>
            </a:r>
          </a:p>
          <a:p>
            <a:r>
              <a:t>先给面试官一个总体量级，再解释为什么需要 weighting：连续窗口可能属于同一 algorithm-level persistent component，所以既保留观测，又避免重复中心过度支配统计。</a:t>
            </a:r>
          </a:p>
          <a:p>
            <a:r>
              <a:t>[/Speaker cue]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E:/GNSS_Multipath_Project/dataset_generation_logs/channel_modeling/environment_elevation_stage3_path_model_v1_20260829_r3/source_population_audit.csv</a:t>
            </a:r>
          </a:p>
          <a:p>
            <a:r>
              <a:t>- E:/GNSS_Multipath_Project/dataset_generation_logs/channel_modeling/environment_elevation_stage3_path_model_v1_20260829_r3/selected_marginal_models.csv</a:t>
            </a:r>
          </a:p>
          <a:p>
            <a:r>
              <a:t>- E:/GNSS_Multipath_Project/dataset_generation_logs/channel_modeling/environment_elevation_stage3_path_model_v1_20260829_r3/model_manifest.json</a:t>
            </a:r>
          </a:p>
          <a:p>
            <a:r>
              <a:t>- E:/GNSS_Multipath_Project/dataset_generation_logs/channel_modeling/phase1_scientific_closure_20260830_r2/figure_table_plan.csv</a:t>
            </a:r>
          </a:p>
          <a:p>
            <a:r>
              <a:t>[/Sources]</a:t>
            </a:r>
          </a:p>
          <a:p/>
          <a:p>
            <a:r>
              <a:t>[Speaker cue]</a:t>
            </a:r>
          </a:p>
          <a:p>
            <a:r>
              <a:t>这一页先说明分层结构，再用三张 global 拟合图把结果落到可见证据：柱形是按 track 权重汇总的 Stage3 观测，曲线是 r3 已存的 Lognormal/Normal 参数评估结果；三个参数分别建模，同时用高斯 Copula 保留联合关系。</a:t>
            </a:r>
          </a:p>
          <a:p>
            <a:r>
              <a:t>[/Speaker cue]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docs/ACADEMIC_CHANNEL_MODELING_MASTER_PLAN.md</a:t>
            </a:r>
          </a:p>
          <a:p>
            <a:r>
              <a:t>- docs/PHASE1_TRADITIONAL_CHANNEL_MODELING_SCIENTIFIC_CLOSURE.md</a:t>
            </a:r>
          </a:p>
          <a:p>
            <a:r>
              <a:t>- docs/GNSS_SAGE_PAPER_HANDOFF_CURRENT.md</a:t>
            </a:r>
          </a:p>
          <a:p>
            <a:r>
              <a:t>[/Sources]</a:t>
            </a:r>
          </a:p>
          <a:p/>
          <a:p>
            <a:r>
              <a:t>[Speaker cue]</a:t>
            </a:r>
          </a:p>
          <a:p>
            <a:r>
              <a:t>最后不要再堆技术细节：总结四项贡献，再明确 Phase 1 是 valid academic baseline，AI 只是后续、尚未授权的 benchmark 路线。用底部一句话收尾。</a:t>
            </a:r>
          </a:p>
          <a:p>
            <a:r>
              <a:t>[/Speaker cue]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D8090"/>
          </a:solidFill>
          <a:ln w="0">
            <a:noFill/>
            <a:prstDash val="solid"/>
          </a:ln>
        </p:spPr>
      </p:sp>
      <p:sp>
        <p:nvSpPr>
          <p:cNvPr id="2" name="slide-1-title"/>
          <p:cNvSpPr>
            <a:spLocks noGrp="1"/>
          </p:cNvSpPr>
          <p:nvPr/>
        </p:nvSpPr>
        <p:spPr>
          <a:xfrm>
            <a:off x="742950" y="781050"/>
            <a:ext cx="723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GNSS 多径信道建模项目</a:t>
            </a:r>
            <a:endParaRPr sz="4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6954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875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从真实车辆动态信号，到 Environment × Elevation 统计模型</a:t>
            </a:r>
            <a:endParaRPr sz="1875">
              <a:solidFill>
                <a:srgbClr val="C8D9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781050" y="2343150"/>
            <a:ext cx="1952625" cy="285750"/>
          </a:xfrm>
          <a:prstGeom prst="roundRect">
            <a:avLst>
              <a:gd name="adj" fmla="val 50000"/>
            </a:avLst>
          </a:prstGeom>
          <a:solidFill>
            <a:srgbClr val="0D8090"/>
          </a:solidFill>
          <a:ln w="0">
            <a:noFill/>
            <a:prstDash val="solid"/>
          </a:ln>
        </p:spPr>
        <p:txBody>
          <a:bodyPr wrap="none" lIns="38100" tIns="0" rIns="3810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1 · 学术主线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27241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350" b="1">
                <a:solidFill>
                  <a:srgbClr val="F2A3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A3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动态车辆中的多径会影响定位与信号质量</a:t>
            </a:r>
            <a:endParaRPr sz="1350" b="1">
              <a:solidFill>
                <a:srgbClr val="F2A3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30670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575" b="1">
                <a:solidFill>
                  <a:srgbClr val="7FE1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7FE1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</a:t>
            </a:r>
            <a:endParaRPr sz="1575" b="1">
              <a:solidFill>
                <a:srgbClr val="7FE1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3390900"/>
            <a:ext cx="4857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能否把真实采集到的多径，转化为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可解释、可复用的条件统计基线？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877050" y="3381375"/>
            <a:ext cx="3429000" cy="0"/>
          </a:xfrm>
          <a:prstGeom prst="line">
            <a:avLst/>
          </a:prstGeom>
          <a:noFill/>
          <a:ln w="19050">
            <a:solidFill>
              <a:srgbClr val="44647C"/>
            </a:solidFill>
            <a:prstDash val="solid"/>
          </a:ln>
        </p:spPr>
      </p:sp>
      <p:sp>
        <p:nvSpPr>
          <p:cNvPr id="9" name="右箭头 8"/>
          <p:cNvSpPr>
            <a:spLocks noGrp="1"/>
          </p:cNvSpPr>
          <p:nvPr/>
        </p:nvSpPr>
        <p:spPr>
          <a:xfrm>
            <a:off x="7829550" y="3286125"/>
            <a:ext cx="457200" cy="190500"/>
          </a:xfrm>
          <a:prstGeom prst="rightArrow">
            <a:avLst/>
          </a:prstGeom>
          <a:solidFill>
            <a:srgbClr val="E07A3F"/>
          </a:solidFill>
          <a:ln w="0">
            <a:noFill/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6191250" y="2857500"/>
            <a:ext cx="1047750" cy="1047750"/>
          </a:xfrm>
          <a:prstGeom prst="ellipse">
            <a:avLst/>
          </a:prstGeom>
          <a:solidFill>
            <a:srgbClr val="0D809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raw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IQ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096250" y="2857500"/>
            <a:ext cx="1047750" cy="1047750"/>
          </a:xfrm>
          <a:prstGeom prst="ellipse">
            <a:avLst/>
          </a:prstGeom>
          <a:solidFill>
            <a:srgbClr val="E07A3F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SAGE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paths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0001250" y="2857500"/>
            <a:ext cx="1381125" cy="10477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conditional</a:t>
            </a:r>
            <a:endParaRPr sz="13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</a:t>
            </a:r>
            <a:endParaRPr sz="13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72200" y="4095750"/>
            <a:ext cx="1104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>
                <a:solidFill>
                  <a:srgbClr val="BBD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BBD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真实信号</a:t>
            </a:r>
            <a:endParaRPr sz="1200">
              <a:solidFill>
                <a:srgbClr val="BBD0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58125" y="409575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>
                <a:solidFill>
                  <a:srgbClr val="BBD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BBD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delay · Doppler</a:t>
            </a:r>
            <a:endParaRPr sz="1200">
              <a:solidFill>
                <a:srgbClr val="BBD0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>
                <a:solidFill>
                  <a:srgbClr val="BBD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BBD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relative power</a:t>
            </a:r>
            <a:endParaRPr sz="1200">
              <a:solidFill>
                <a:srgbClr val="BBD0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696450" y="40957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>
                <a:solidFill>
                  <a:srgbClr val="BBD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BBD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 × Elevation</a:t>
            </a:r>
            <a:endParaRPr sz="1200">
              <a:solidFill>
                <a:srgbClr val="BBD0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57340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50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Measurement-derived · conditional · 有边界</a:t>
            </a:r>
            <a:endParaRPr sz="1350">
              <a:solidFill>
                <a:srgbClr val="C8D9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620375" y="61912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125">
                <a:solidFill>
                  <a:srgbClr val="BBD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BD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08</a:t>
            </a:r>
            <a:endParaRPr sz="1125">
              <a:solidFill>
                <a:srgbClr val="BBD0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47700" y="304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125" b="1">
                <a:solidFill>
                  <a:srgbClr val="0D8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D8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· 数据基础</a:t>
            </a:r>
            <a:endParaRPr sz="1125" b="1">
              <a:solidFill>
                <a:srgbClr val="0D80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2-title"/>
          <p:cNvSpPr>
            <a:spLocks noGrp="1"/>
          </p:cNvSpPr>
          <p:nvPr/>
        </p:nvSpPr>
        <p:spPr>
          <a:xfrm>
            <a:off x="647700" y="5715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真实动态采集，形成可追溯的建模链路</a:t>
            </a:r>
            <a:endParaRPr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47700" y="1219200"/>
            <a:ext cx="10896600" cy="0"/>
          </a:xfrm>
          <a:prstGeom prst="line">
            <a:avLst/>
          </a:prstGeom>
          <a:noFill/>
          <a:ln w="28575">
            <a:solidFill>
              <a:srgbClr val="0D8090"/>
            </a:solidFill>
            <a:prstDash val="solid"/>
          </a:ln>
        </p:spPr>
      </p:sp>
      <p:sp>
        <p:nvSpPr>
          <p:cNvPr id="4" name="右箭头 3"/>
          <p:cNvSpPr>
            <a:spLocks noGrp="1"/>
          </p:cNvSpPr>
          <p:nvPr/>
        </p:nvSpPr>
        <p:spPr>
          <a:xfrm>
            <a:off x="2514600" y="3305175"/>
            <a:ext cx="400050" cy="190500"/>
          </a:xfrm>
          <a:prstGeom prst="rightArrow">
            <a:avLst/>
          </a:prstGeom>
          <a:solidFill>
            <a:srgbClr val="0D8090"/>
          </a:solidFill>
          <a:ln w="0">
            <a:noFill/>
            <a:prstDash val="solid"/>
          </a:ln>
        </p:spPr>
      </p:sp>
      <p:sp>
        <p:nvSpPr>
          <p:cNvPr id="5" name="右箭头 4"/>
          <p:cNvSpPr>
            <a:spLocks noGrp="1"/>
          </p:cNvSpPr>
          <p:nvPr/>
        </p:nvSpPr>
        <p:spPr>
          <a:xfrm>
            <a:off x="4686300" y="3305175"/>
            <a:ext cx="400050" cy="190500"/>
          </a:xfrm>
          <a:prstGeom prst="rightArrow">
            <a:avLst/>
          </a:prstGeom>
          <a:solidFill>
            <a:srgbClr val="0D8090"/>
          </a:solidFill>
          <a:ln w="0">
            <a:noFill/>
            <a:prstDash val="solid"/>
          </a:ln>
        </p:spPr>
      </p:sp>
      <p:sp>
        <p:nvSpPr>
          <p:cNvPr id="6" name="右箭头 5"/>
          <p:cNvSpPr>
            <a:spLocks noGrp="1"/>
          </p:cNvSpPr>
          <p:nvPr/>
        </p:nvSpPr>
        <p:spPr>
          <a:xfrm>
            <a:off x="6858000" y="3305175"/>
            <a:ext cx="400050" cy="190500"/>
          </a:xfrm>
          <a:prstGeom prst="rightArrow">
            <a:avLst/>
          </a:prstGeom>
          <a:solidFill>
            <a:srgbClr val="0D8090"/>
          </a:solidFill>
          <a:ln w="0">
            <a:noFill/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9029700" y="3305175"/>
            <a:ext cx="400050" cy="190500"/>
          </a:xfrm>
          <a:prstGeom prst="rightArrow">
            <a:avLst/>
          </a:prstGeom>
          <a:solidFill>
            <a:srgbClr val="0D8090"/>
          </a:solidFill>
          <a:ln w="0">
            <a:noFill/>
            <a:prstDash val="solid"/>
          </a:ln>
        </p:spPr>
      </p:sp>
      <p:sp>
        <p:nvSpPr>
          <p:cNvPr id="8" name="slide-2-node-76"/>
          <p:cNvSpPr>
            <a:spLocks noGrp="1"/>
          </p:cNvSpPr>
          <p:nvPr/>
        </p:nvSpPr>
        <p:spPr>
          <a:xfrm>
            <a:off x="723900" y="2724150"/>
            <a:ext cx="1600200" cy="1181100"/>
          </a:xfrm>
          <a:prstGeom prst="roundRect">
            <a:avLst>
              <a:gd name="adj" fmla="val 9677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车辆动态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真实采集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lide-2-node-302"/>
          <p:cNvSpPr>
            <a:spLocks noGrp="1"/>
          </p:cNvSpPr>
          <p:nvPr/>
        </p:nvSpPr>
        <p:spPr>
          <a:xfrm>
            <a:off x="2876550" y="2724150"/>
            <a:ext cx="1600200" cy="1181100"/>
          </a:xfrm>
          <a:prstGeom prst="roundRect">
            <a:avLst>
              <a:gd name="adj" fmla="val 9677"/>
            </a:avLst>
          </a:prstGeom>
          <a:solidFill>
            <a:srgbClr val="0D8090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GPS L1 C/A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10.23 MHz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lide-2-node-530"/>
          <p:cNvSpPr>
            <a:spLocks noGrp="1"/>
          </p:cNvSpPr>
          <p:nvPr/>
        </p:nvSpPr>
        <p:spPr>
          <a:xfrm>
            <a:off x="5048250" y="2724150"/>
            <a:ext cx="1600200" cy="1181100"/>
          </a:xfrm>
          <a:prstGeom prst="roundRect">
            <a:avLst>
              <a:gd name="adj" fmla="val 9677"/>
            </a:avLst>
          </a:prstGeom>
          <a:solidFill>
            <a:srgbClr val="123653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GNSS-SDR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tracking / telemetry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lide-2-node-758"/>
          <p:cNvSpPr>
            <a:spLocks noGrp="1"/>
          </p:cNvSpPr>
          <p:nvPr/>
        </p:nvSpPr>
        <p:spPr>
          <a:xfrm>
            <a:off x="7219950" y="2724150"/>
            <a:ext cx="1600200" cy="1181100"/>
          </a:xfrm>
          <a:prstGeom prst="roundRect">
            <a:avLst>
              <a:gd name="adj" fmla="val 9677"/>
            </a:avLst>
          </a:prstGeom>
          <a:solidFill>
            <a:srgbClr val="E07A3F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NAV-aided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SAGE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lide-2-node-986"/>
          <p:cNvSpPr>
            <a:spLocks noGrp="1"/>
          </p:cNvSpPr>
          <p:nvPr/>
        </p:nvSpPr>
        <p:spPr>
          <a:xfrm>
            <a:off x="9391650" y="2724150"/>
            <a:ext cx="1809750" cy="1181100"/>
          </a:xfrm>
          <a:prstGeom prst="roundRect">
            <a:avLst>
              <a:gd name="adj" fmla="val 9677"/>
            </a:avLst>
          </a:prstGeom>
          <a:solidFill>
            <a:srgbClr val="2F855A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Stage3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建模总体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417195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raw IQ</a:t>
            </a:r>
            <a:endParaRPr sz="1275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076575" y="4171950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tracking / nav</a:t>
            </a:r>
            <a:endParaRPr sz="1275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19700" y="41719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391"/>
          </a:bodyPr>
          <a:lstStyle/>
          <a:p>
            <a:pPr algn="ctr">
              <a:buNone/>
              <a:defRPr sz="1275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candidate windows</a:t>
            </a:r>
            <a:endParaRPr sz="1275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86625" y="4171950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8926"/>
          </a:bodyPr>
          <a:lstStyle/>
          <a:p>
            <a:pPr algn="ctr">
              <a:buNone/>
              <a:defRPr sz="1275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delay / Doppler / power</a:t>
            </a:r>
            <a:endParaRPr sz="1275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334500" y="417195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9834"/>
          </a:bodyPr>
          <a:lstStyle/>
          <a:p>
            <a:pPr algn="ctr">
              <a:buNone/>
              <a:def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reliable / persistent observations</a:t>
            </a:r>
            <a:endParaRPr sz="120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lide-2-principle"/>
          <p:cNvSpPr>
            <a:spLocks noGrp="1"/>
          </p:cNvSpPr>
          <p:nvPr/>
        </p:nvSpPr>
        <p:spPr>
          <a:xfrm>
            <a:off x="1905000" y="5143500"/>
            <a:ext cx="83820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6E0E8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650" b="1">
                <a:solidFill>
                  <a:srgbClr val="075E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5E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关键原则：数据链路和每个阶段都保留 provenance 与独立 QA</a:t>
            </a:r>
            <a:endParaRPr sz="1650" b="1">
              <a:solidFill>
                <a:srgbClr val="075E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6E0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7700" y="65151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GNSS 多径信道建模 · Phase 1 学术主线</a:t>
            </a:r>
            <a:endParaRPr sz="105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620375" y="65151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08</a:t>
            </a:r>
            <a:endParaRPr sz="105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47700" y="304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125" b="1">
                <a:solidFill>
                  <a:srgbClr val="0D8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D8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· 算法设计</a:t>
            </a:r>
            <a:endParaRPr sz="1125" b="1">
              <a:solidFill>
                <a:srgbClr val="0D80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3-title"/>
          <p:cNvSpPr>
            <a:spLocks noGrp="1"/>
          </p:cNvSpPr>
          <p:nvPr/>
        </p:nvSpPr>
        <p:spPr>
          <a:xfrm>
            <a:off x="647700" y="5715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算法设计把“候选”逐步收敛为“可靠观测”</a:t>
            </a:r>
            <a:endParaRPr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47700" y="1219200"/>
            <a:ext cx="10896600" cy="0"/>
          </a:xfrm>
          <a:prstGeom prst="line">
            <a:avLst/>
          </a:prstGeom>
          <a:noFill/>
          <a:ln w="28575">
            <a:solidFill>
              <a:srgbClr val="0D8090"/>
            </a:solidFill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6553200" y="3371850"/>
            <a:ext cx="609600" cy="209550"/>
          </a:xfrm>
          <a:prstGeom prst="rightArrow">
            <a:avLst/>
          </a:prstGeom>
          <a:solidFill>
            <a:srgbClr val="0D8090"/>
          </a:solidFill>
          <a:ln w="0">
            <a:noFill/>
            <a:prstDash val="solid"/>
          </a:ln>
        </p:spPr>
      </p:sp>
      <p:sp>
        <p:nvSpPr>
          <p:cNvPr id="9" name="slide-3-Stage0"/>
          <p:cNvSpPr>
            <a:spLocks noGrp="1"/>
          </p:cNvSpPr>
          <p:nvPr/>
        </p:nvSpPr>
        <p:spPr>
          <a:xfrm>
            <a:off x="704850" y="2171700"/>
            <a:ext cx="1000125" cy="723900"/>
          </a:xfrm>
          <a:prstGeom prst="roundRect">
            <a:avLst>
              <a:gd name="adj" fmla="val 15789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56454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Stage0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 NAV symbol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构建完整 40 ms window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lide-3-Stage1"/>
          <p:cNvSpPr>
            <a:spLocks noGrp="1"/>
          </p:cNvSpPr>
          <p:nvPr/>
        </p:nvSpPr>
        <p:spPr>
          <a:xfrm>
            <a:off x="1857375" y="2476500"/>
            <a:ext cx="2190750" cy="723900"/>
          </a:xfrm>
          <a:prstGeom prst="roundRect">
            <a:avLst>
              <a:gd name="adj" fmla="val 15789"/>
            </a:avLst>
          </a:prstGeom>
          <a:solidFill>
            <a:srgbClr val="075E69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72919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Stage1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NAV-wiped 信号 × 本地 PRN C/A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delay–Doppler 相关筛选候选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lide-3-Stage2"/>
          <p:cNvSpPr>
            <a:spLocks noGrp="1"/>
          </p:cNvSpPr>
          <p:nvPr/>
        </p:nvSpPr>
        <p:spPr>
          <a:xfrm>
            <a:off x="4238625" y="2781300"/>
            <a:ext cx="3381375" cy="723900"/>
          </a:xfrm>
          <a:prstGeom prst="roundRect">
            <a:avLst>
              <a:gd name="adj" fmla="val 15789"/>
            </a:avLst>
          </a:prstGeom>
          <a:solidFill>
            <a:srgbClr val="0D8090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89139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Stage2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fractional SAGE, L=1–4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估计 delay / Doppler / relative power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lide-3-Stage3"/>
          <p:cNvSpPr>
            <a:spLocks noGrp="1"/>
          </p:cNvSpPr>
          <p:nvPr/>
        </p:nvSpPr>
        <p:spPr>
          <a:xfrm>
            <a:off x="7810500" y="3086100"/>
            <a:ext cx="3619500" cy="723900"/>
          </a:xfrm>
          <a:prstGeom prst="roundRect">
            <a:avLst>
              <a:gd name="adj" fmla="val 15789"/>
            </a:avLst>
          </a:prstGeom>
          <a:solidFill>
            <a:srgbClr val="E07A3F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4091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Stage3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相邻窗口 persistence 检查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 reliable / persistent multipath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447800" y="17335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screening</a:t>
            </a:r>
            <a:endParaRPr sz="1350" b="1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981450" y="1733550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parameter estimation</a:t>
            </a:r>
            <a:endParaRPr sz="1350" b="1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0" y="17335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reliability</a:t>
            </a:r>
            <a:endParaRPr sz="1350" b="1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6E0E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7700" y="65151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GNSS 多径信道建模 · Phase 1 学术主线</a:t>
            </a:r>
            <a:endParaRPr sz="105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20375" y="65151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08</a:t>
            </a:r>
            <a:endParaRPr sz="105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47700" y="304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125" b="1">
                <a:solidFill>
                  <a:srgbClr val="0D8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D8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建模总体</a:t>
            </a:r>
            <a:endParaRPr sz="1125" b="1">
              <a:solidFill>
                <a:srgbClr val="0D80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5-title"/>
          <p:cNvSpPr>
            <a:spLocks noGrp="1"/>
          </p:cNvSpPr>
          <p:nvPr/>
        </p:nvSpPr>
        <p:spPr>
          <a:xfrm>
            <a:off x="647700" y="5715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1 的有效总体：783 条观测，依赖修正后进入建模</a:t>
            </a:r>
            <a:endParaRPr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47700" y="1219200"/>
            <a:ext cx="10896600" cy="0"/>
          </a:xfrm>
          <a:prstGeom prst="line">
            <a:avLst/>
          </a:prstGeom>
          <a:noFill/>
          <a:ln w="28575">
            <a:solidFill>
              <a:srgbClr val="0D8090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704850" y="1762125"/>
            <a:ext cx="3429000" cy="2781300"/>
          </a:xfrm>
          <a:prstGeom prst="roundRect">
            <a:avLst>
              <a:gd name="adj" fmla="val 4110"/>
            </a:avLst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2228850"/>
            <a:ext cx="2857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6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783</a:t>
            </a:r>
            <a:endParaRPr sz="6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3333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348"/>
          </a:bodyPr>
          <a:lstStyle/>
          <a:p>
            <a:pPr algn="ctr">
              <a:buNone/>
              <a:defRPr sz="1650" b="1">
                <a:solidFill>
                  <a:srgbClr val="BFE7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FE7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Stage3 academic observations</a:t>
            </a:r>
            <a:endParaRPr sz="1650" b="1">
              <a:solidFill>
                <a:srgbClr val="BFE7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3857625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000"/>
          </a:bodyPr>
          <a:lstStyle/>
          <a:p>
            <a:pPr algn="ctr">
              <a:buNone/>
              <a:defRPr sz="1275">
                <a:solidFill>
                  <a:srgbClr val="D8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D8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保留全部观测；不等于 783 个独立物理反射体</a:t>
            </a:r>
            <a:br>
              <a:rPr sz="1275">
                <a:solidFill>
                  <a:srgbClr val="D8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275">
                <a:solidFill>
                  <a:srgbClr val="D8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783</a:t>
            </a:r>
            <a:r>
              <a:rPr sz="1275">
                <a:solidFill>
                  <a:srgbClr val="D8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条多径（内有</a:t>
            </a:r>
            <a:r>
              <a:rPr sz="1275">
                <a:solidFill>
                  <a:srgbClr val="D8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重复）</a:t>
            </a:r>
            <a:endParaRPr sz="1275">
              <a:solidFill>
                <a:srgbClr val="D8E6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0" y="20383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0D8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D8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366</a:t>
            </a:r>
            <a:endParaRPr sz="2400" b="1">
              <a:solidFill>
                <a:srgbClr val="0D80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62500" y="25146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6172"/>
          </a:bodyPr>
          <a:lstStyle/>
          <a:p>
            <a:pPr algn="ctr">
              <a:buNone/>
              <a:def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algorithm-level tracks</a:t>
            </a:r>
            <a:b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去掉重复的（一条</a:t>
            </a: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路径在时间上连续）</a:t>
            </a:r>
            <a:endParaRPr sz="120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72250" y="20383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0D8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D8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445</a:t>
            </a:r>
            <a:endParaRPr sz="2400" b="1">
              <a:solidFill>
                <a:srgbClr val="0D80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572250" y="2514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0000"/>
          </a:bodyPr>
          <a:lstStyle/>
          <a:p>
            <a:pPr algn="ctr">
              <a:buNone/>
              <a:def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centers</a:t>
            </a:r>
            <a:b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有多径的</a:t>
            </a: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</a:t>
            </a:r>
            <a:endParaRPr sz="120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286750" y="20383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716</a:t>
            </a:r>
            <a:endParaRPr sz="2400" b="1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286750" y="25146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0000"/>
          </a:bodyPr>
          <a:lstStyle/>
          <a:p>
            <a:pPr algn="ctr">
              <a:buNone/>
              <a:def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elevation-ready</a:t>
            </a:r>
            <a:b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有可靠</a:t>
            </a: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仰角高度信息</a:t>
            </a:r>
            <a:endParaRPr sz="120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191750" y="2038350"/>
            <a:ext cx="95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1236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36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endParaRPr sz="2400" b="1">
              <a:solidFill>
                <a:srgbClr val="1236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191750" y="25146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0000"/>
          </a:bodyPr>
          <a:lstStyle/>
          <a:p>
            <a:pPr algn="ctr">
              <a:buNone/>
              <a:def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runs</a:t>
            </a:r>
            <a:b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SAGE</a:t>
            </a: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独立处理的</a:t>
            </a: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endParaRPr sz="120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91810" y="29972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1236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36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2400" b="1">
              <a:solidFill>
                <a:srgbClr val="1236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0055" y="33718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scenes</a:t>
            </a:r>
            <a:endParaRPr sz="120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67625" y="34290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1236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36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2400" b="1">
              <a:solidFill>
                <a:srgbClr val="1236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67625" y="39052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PRNs</a:t>
            </a:r>
            <a:endParaRPr sz="120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832215" y="3284855"/>
            <a:ext cx="3511550" cy="6921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8"/>
            </a:solidFill>
            <a:prstDash val="solid"/>
          </a:ln>
        </p:spPr>
        <p:txBody>
          <a:bodyPr wrap="square" lIns="57150" tIns="38100" rIns="57150" bIns="38100" anchor="ctr">
            <a:normAutofit fontScale="90000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权重：  wᵢ = 1 / track_size</a:t>
            </a:r>
            <a:r>
              <a:rPr sz="157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（出现次数）</a:t>
            </a:r>
            <a:endParaRPr sz="1575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57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 algorithm track 的总权重保持为 1</a:t>
            </a:r>
            <a:endParaRPr sz="1575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6E0E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47700" y="65151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GNSS 多径信道建模 · Phase 1 学术主线</a:t>
            </a:r>
            <a:endParaRPr sz="105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620375" y="65151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08</a:t>
            </a:r>
            <a:endParaRPr sz="105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>
            <a:spLocks noGrp="1"/>
          </p:cNvSpPr>
          <p:nvPr/>
        </p:nvSpPr>
        <p:spPr>
          <a:xfrm>
            <a:off x="704850" y="4725035"/>
            <a:ext cx="3091815" cy="149923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400"/>
              <a:t>真实时间窗口：</a:t>
            </a:r>
            <a:endParaRPr sz="1400"/>
          </a:p>
          <a:p>
            <a:r>
              <a:rPr sz="1400"/>
              <a:t>98 ─ 99 ─ 100 ─ 101 ─ 102 ─ 103 ─ 104</a:t>
            </a:r>
            <a:endParaRPr sz="1400"/>
          </a:p>
          <a:p>
            <a:r>
              <a:rPr sz="1400"/>
              <a:t>          ●      ●        ●         ●        ●</a:t>
            </a:r>
            <a:endParaRPr sz="1400"/>
          </a:p>
          <a:p>
            <a:r>
              <a:rPr sz="1400"/>
              <a:t>      大致都能看到参数相近的次径</a:t>
            </a:r>
            <a:br>
              <a:rPr sz="1400"/>
            </a:br>
            <a:r>
              <a:rPr sz="1400"/>
              <a:t>至少连续 3 个窗口</a:t>
            </a:r>
            <a:endParaRPr sz="1400"/>
          </a:p>
          <a:p>
            <a:endParaRPr sz="1400"/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7104380" y="4653280"/>
            <a:ext cx="6096000" cy="1599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/>
              <a:t>最终：</a:t>
            </a:r>
            <a:endParaRPr sz="1400"/>
          </a:p>
          <a:p>
            <a:endParaRPr sz="1400"/>
          </a:p>
          <a:p>
            <a:r>
              <a:rPr sz="1400"/>
              <a:t>center 100 observation ─┐</a:t>
            </a:r>
            <a:endParaRPr sz="1400"/>
          </a:p>
          <a:p>
            <a:r>
              <a:rPr sz="1400"/>
              <a:t>center 101 observation ─┼─→ Algorithm Track #17</a:t>
            </a:r>
            <a:endParaRPr sz="1400"/>
          </a:p>
          <a:p>
            <a:r>
              <a:rPr sz="1400"/>
              <a:t>center 102 observation ─┘</a:t>
            </a:r>
            <a:endParaRPr sz="1400"/>
          </a:p>
          <a:p>
            <a:endParaRPr sz="1400"/>
          </a:p>
          <a:p>
            <a:r>
              <a:rPr sz="1400"/>
              <a:t>track_size = 3</a:t>
            </a:r>
            <a:endParaRPr sz="1400"/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4224020" y="3750310"/>
            <a:ext cx="2286000" cy="31076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/>
              <a:t>Stage3 center 100：</a:t>
            </a:r>
            <a:endParaRPr sz="1400"/>
          </a:p>
          <a:p>
            <a:r>
              <a:rPr sz="1400"/>
              <a:t>[98  99  100 101 102]</a:t>
            </a:r>
            <a:endParaRPr sz="1400"/>
          </a:p>
          <a:p>
            <a:r>
              <a:rPr sz="1400"/>
              <a:t>        ✓   ✓   ✓   ✓</a:t>
            </a:r>
            <a:endParaRPr sz="1400"/>
          </a:p>
          <a:p>
            <a:r>
              <a:rPr sz="1400"/>
              <a:t>matched = 4</a:t>
            </a:r>
            <a:endParaRPr sz="1400"/>
          </a:p>
          <a:p>
            <a:endParaRPr sz="1400"/>
          </a:p>
          <a:p>
            <a:r>
              <a:rPr sz="1400"/>
              <a:t>Stage3 center 101：</a:t>
            </a:r>
            <a:endParaRPr sz="1400"/>
          </a:p>
          <a:p>
            <a:r>
              <a:rPr sz="1400"/>
              <a:t>    [99  100 101 102 103]</a:t>
            </a:r>
            <a:endParaRPr sz="1400"/>
          </a:p>
          <a:p>
            <a:r>
              <a:rPr sz="1400"/>
              <a:t>     ✓   ✓   ✓   ✓   ✓</a:t>
            </a:r>
            <a:endParaRPr sz="1400"/>
          </a:p>
          <a:p>
            <a:r>
              <a:rPr sz="1400"/>
              <a:t>matched = 5</a:t>
            </a:r>
            <a:endParaRPr sz="1400"/>
          </a:p>
          <a:p>
            <a:endParaRPr sz="1400"/>
          </a:p>
          <a:p>
            <a:r>
              <a:rPr sz="1400"/>
              <a:t>Stage3 center 102：</a:t>
            </a:r>
            <a:endParaRPr sz="1400"/>
          </a:p>
          <a:p>
            <a:r>
              <a:rPr sz="1400"/>
              <a:t>        [100 101 102 103 104]</a:t>
            </a:r>
            <a:endParaRPr sz="1400"/>
          </a:p>
          <a:p>
            <a:r>
              <a:rPr sz="1400"/>
              <a:t>          ✓   ✓   ✓   ✓</a:t>
            </a:r>
            <a:endParaRPr sz="1400"/>
          </a:p>
          <a:p>
            <a:r>
              <a:rPr sz="1400"/>
              <a:t>matched = 4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647700" y="304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125" b="1">
                <a:solidFill>
                  <a:srgbClr val="0D8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D8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· 传统统计模型</a:t>
            </a:r>
            <a:endParaRPr sz="1125" b="1">
              <a:solidFill>
                <a:srgbClr val="0D80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6-title"/>
          <p:cNvSpPr>
            <a:spLocks noGrp="1"/>
          </p:cNvSpPr>
          <p:nvPr/>
        </p:nvSpPr>
        <p:spPr>
          <a:xfrm>
            <a:off x="647700" y="5715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传统统计模型：分层结构与拟合结果</a:t>
            </a:r>
            <a:endParaRPr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47700" y="1219200"/>
            <a:ext cx="10896600" cy="0"/>
          </a:xfrm>
          <a:prstGeom prst="line">
            <a:avLst/>
          </a:prstGeom>
          <a:noFill/>
          <a:ln w="28575">
            <a:solidFill>
              <a:srgbClr val="0D8090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695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怎么分层建模</a:t>
            </a:r>
            <a:endParaRPr sz="16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右箭头 4"/>
          <p:cNvSpPr>
            <a:spLocks noGrp="1"/>
          </p:cNvSpPr>
          <p:nvPr/>
        </p:nvSpPr>
        <p:spPr>
          <a:xfrm rot="5400000">
            <a:off x="1504950" y="2847975"/>
            <a:ext cx="304800" cy="114300"/>
          </a:xfrm>
          <a:prstGeom prst="rightArrow">
            <a:avLst/>
          </a:prstGeom>
          <a:solidFill>
            <a:srgbClr val="0D8090"/>
          </a:solidFill>
          <a:ln w="0">
            <a:noFill/>
            <a:prstDash val="solid"/>
          </a:ln>
        </p:spPr>
      </p:sp>
      <p:sp>
        <p:nvSpPr>
          <p:cNvPr id="6" name="右箭头 5"/>
          <p:cNvSpPr>
            <a:spLocks noGrp="1"/>
          </p:cNvSpPr>
          <p:nvPr/>
        </p:nvSpPr>
        <p:spPr>
          <a:xfrm rot="5400000">
            <a:off x="1504950" y="4133850"/>
            <a:ext cx="304800" cy="114300"/>
          </a:xfrm>
          <a:prstGeom prst="rightArrow">
            <a:avLst/>
          </a:prstGeom>
          <a:solidFill>
            <a:srgbClr val="0D8090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2095500"/>
            <a:ext cx="1952625" cy="723900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整体模型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2000"/>
              </a:lnSpc>
              <a:buNone/>
              <a:def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先用全部有效多径数据，</a:t>
            </a:r>
            <a:endParaRPr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2000"/>
              </a:lnSpc>
              <a:buNone/>
              <a:def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得到总体统计规律</a:t>
            </a:r>
            <a:endParaRPr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3000375"/>
            <a:ext cx="1952625" cy="1104900"/>
          </a:xfrm>
          <a:prstGeom prst="roundRect">
            <a:avLst>
              <a:gd name="adj" fmla="val 13043"/>
            </a:avLst>
          </a:prstGeom>
          <a:solidFill>
            <a:srgbClr val="0D8090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88000"/>
              </a:lnSpc>
              <a:buNone/>
              <a:def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按环境分类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88000"/>
              </a:lnSpc>
              <a:buNone/>
              <a:def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城市</a:t>
            </a:r>
            <a:endParaRPr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88000"/>
              </a:lnSpc>
              <a:buNone/>
              <a:def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特殊反射环境</a:t>
            </a:r>
            <a:endParaRPr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88000"/>
              </a:lnSpc>
              <a:buNone/>
              <a:def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山地 / 峡谷</a:t>
            </a:r>
            <a:endParaRPr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88000"/>
              </a:lnSpc>
              <a:buNone/>
              <a:def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高速 / 开阔环境</a:t>
            </a:r>
            <a:endParaRPr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4286250"/>
            <a:ext cx="1952625" cy="723900"/>
          </a:xfrm>
          <a:prstGeom prst="roundRect">
            <a:avLst>
              <a:gd name="adj" fmla="val 16667"/>
            </a:avLst>
          </a:prstGeom>
          <a:solidFill>
            <a:srgbClr val="E07A3F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 + 卫星仰角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2000"/>
              </a:lnSpc>
              <a:buNone/>
              <a:def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低仰角 · 中仰角 · 高仰角</a:t>
            </a:r>
            <a:endParaRPr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857500" y="16954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三个核心参数的拟合结果</a:t>
            </a:r>
            <a:endParaRPr sz="16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3" name="表格 26" hidden="1"/>
          <p:cNvGraphicFramePr/>
          <p:nvPr/>
        </p:nvGraphicFramePr>
        <p:xfrm>
          <a:off x="3905250" y="2114550"/>
          <a:ext cx="3429000" cy="2362200"/>
        </p:xfrm>
        <a:graphic>
          <a:graphicData uri="http://schemas.openxmlformats.org/drawingml/2006/table">
            <a:tbl>
              <a:tblPr firstRow="1" bandRow="1"/>
              <a:tblGrid>
                <a:gridCol w="1714500"/>
                <a:gridCol w="1714500"/>
              </a:tblGrid>
              <a:tr h="590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200">
                        <a:solidFill>
                          <a:srgbClr val="132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>
                        <a:solidFill>
                          <a:srgbClr val="132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200">
                        <a:solidFill>
                          <a:srgbClr val="132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>
                        <a:solidFill>
                          <a:srgbClr val="132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200">
                        <a:solidFill>
                          <a:srgbClr val="132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>
                        <a:solidFill>
                          <a:srgbClr val="132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圆角矩形 11"/>
          <p:cNvSpPr>
            <a:spLocks noGrp="1"/>
          </p:cNvSpPr>
          <p:nvPr/>
        </p:nvSpPr>
        <p:spPr>
          <a:xfrm>
            <a:off x="8096250" y="1962150"/>
            <a:ext cx="3524250" cy="29527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9050">
            <a:solidFill>
              <a:srgbClr val="0D8090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三个参数不是完全独立的</a:t>
            </a:r>
            <a:endParaRPr sz="1200" b="1">
              <a:solidFill>
                <a:srgbClr val="132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分别描述时延、多普勒和功率，</a:t>
            </a:r>
            <a:endParaRPr sz="1200">
              <a:solidFill>
                <a:srgbClr val="132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还要考虑它们之间的关联。</a:t>
            </a:r>
            <a:endParaRPr sz="1200">
              <a:solidFill>
                <a:srgbClr val="132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例如：</a:t>
            </a:r>
            <a:endParaRPr sz="1200" b="1">
              <a:solidFill>
                <a:srgbClr val="132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时延更大的多径，</a:t>
            </a:r>
            <a:endParaRPr sz="1200">
              <a:solidFill>
                <a:srgbClr val="132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功率是否往往更弱？</a:t>
            </a:r>
            <a:endParaRPr sz="1200">
              <a:solidFill>
                <a:srgbClr val="132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采用高斯 Copula</a:t>
            </a:r>
            <a:endParaRPr sz="1200" b="1">
              <a:solidFill>
                <a:srgbClr val="132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描述时延、多普勒、功率之间的联合关系</a:t>
            </a:r>
            <a:endParaRPr sz="1200" b="1">
              <a:solidFill>
                <a:srgbClr val="132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6E0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7700" y="65151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GNSS 多径信道建模 · Phase 1 学术主线</a:t>
            </a:r>
            <a:endParaRPr sz="105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620375" y="65151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5D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08</a:t>
            </a:r>
            <a:endParaRPr sz="1050">
              <a:solidFill>
                <a:srgbClr val="5D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slide-5-delay-fit-pl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750" y="2055019"/>
            <a:ext cx="4762500" cy="1071563"/>
          </a:xfrm>
          <a:prstGeom prst="roundRect">
            <a:avLst>
              <a:gd name="adj" fmla="val 6557"/>
            </a:avLst>
          </a:prstGeom>
        </p:spPr>
      </p:pic>
      <p:pic>
        <p:nvPicPr>
          <p:cNvPr id="41" name="slide-5-doppler-fit-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0" y="3350419"/>
            <a:ext cx="4762500" cy="1071563"/>
          </a:xfrm>
          <a:prstGeom prst="roundRect">
            <a:avLst>
              <a:gd name="adj" fmla="val 6557"/>
            </a:avLst>
          </a:prstGeom>
        </p:spPr>
      </p:pic>
      <p:pic>
        <p:nvPicPr>
          <p:cNvPr id="42" name="slide-5-power-fit-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0" y="4645819"/>
            <a:ext cx="4762500" cy="1071563"/>
          </a:xfrm>
          <a:prstGeom prst="roundRect">
            <a:avLst>
              <a:gd name="adj" fmla="val 6557"/>
            </a:avLst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07A3F"/>
          </a:solidFill>
          <a:ln w="0">
            <a:noFill/>
            <a:prstDash val="solid"/>
          </a:ln>
        </p:spPr>
      </p:sp>
      <p:sp>
        <p:nvSpPr>
          <p:cNvPr id="2" name="slide-8-title"/>
          <p:cNvSpPr>
            <a:spLocks noGrp="1"/>
          </p:cNvSpPr>
          <p:nvPr/>
        </p:nvSpPr>
        <p:spPr>
          <a:xfrm>
            <a:off x="723900" y="552450"/>
            <a:ext cx="619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项目贡献与面试总结</a:t>
            </a:r>
            <a:endParaRPr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42950" y="1276350"/>
            <a:ext cx="10706100" cy="0"/>
          </a:xfrm>
          <a:prstGeom prst="line">
            <a:avLst/>
          </a:prstGeom>
          <a:noFill/>
          <a:ln w="19050">
            <a:solidFill>
              <a:srgbClr val="48677D"/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781050" y="1714500"/>
            <a:ext cx="476250" cy="476250"/>
          </a:xfrm>
          <a:prstGeom prst="ellipse">
            <a:avLst/>
          </a:prstGeom>
          <a:solidFill>
            <a:srgbClr val="0D809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466850" y="16954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 GNSS raw IQ 数据链路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466850" y="2019300"/>
            <a:ext cx="4714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75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车辆动态采集 → GNSS-SDR → NAV-aided SAGE</a:t>
            </a:r>
            <a:endParaRPr sz="1275">
              <a:solidFill>
                <a:srgbClr val="C8D9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781050" y="2552700"/>
            <a:ext cx="476250" cy="476250"/>
          </a:xfrm>
          <a:prstGeom prst="ellipse">
            <a:avLst/>
          </a:prstGeom>
          <a:solidFill>
            <a:srgbClr val="0D809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66850" y="25336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可靠的多径参数提取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66850" y="2857500"/>
            <a:ext cx="4714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75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Stage0–Stage3 逐层筛选，保留 delay / Doppler / power</a:t>
            </a:r>
            <a:endParaRPr sz="1275">
              <a:solidFill>
                <a:srgbClr val="C8D9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781050" y="4229100"/>
            <a:ext cx="476250" cy="476250"/>
          </a:xfrm>
          <a:prstGeom prst="ellipse">
            <a:avLst/>
          </a:prstGeom>
          <a:solidFill>
            <a:srgbClr val="0D809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466850" y="42100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可复用的统计 baseline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66850" y="4533900"/>
            <a:ext cx="4714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75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依赖修正的 Environment × Elevation 联合统计模型</a:t>
            </a:r>
            <a:endParaRPr sz="1275">
              <a:solidFill>
                <a:srgbClr val="C8D9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239000" y="1752600"/>
            <a:ext cx="371475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当前定位</a:t>
            </a:r>
            <a:endParaRPr sz="18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1：VALID ACADEMIC BASELINE</a:t>
            </a:r>
            <a:endParaRPr sz="18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00"/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2 AI：planned-only / not authorized</a:t>
            </a:r>
            <a:endParaRPr sz="18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0" y="409575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12"/>
          </a:bodyPr>
          <a:lstStyle/>
          <a:p>
            <a:pPr algn="ctr">
              <a:lnSpc>
                <a:spcPct val="108000"/>
              </a:lnSpc>
              <a:buNone/>
              <a:defRPr sz="1500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可支撑：期刊传统建模结果 · 硕士论文核心章节</a:t>
            </a:r>
            <a:endParaRPr sz="1500">
              <a:solidFill>
                <a:srgbClr val="C8D9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500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C8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可作为：后续 AI 条件生成模型的 benchmark</a:t>
            </a:r>
            <a:endParaRPr sz="1500">
              <a:solidFill>
                <a:srgbClr val="C8D9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66750" y="5429250"/>
            <a:ext cx="10572750" cy="571500"/>
          </a:xfrm>
          <a:prstGeom prst="roundRect">
            <a:avLst>
              <a:gd name="adj" fmla="val 20000"/>
            </a:avLst>
          </a:prstGeom>
          <a:solidFill>
            <a:srgbClr val="0D8090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81116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本项目完成了从真实 GNSS raw IQ 到 Stage3 多径参数提取，再到依赖修正的 Environment×Elevation 统计建模的完整 Phase‑1 闭环。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620375" y="61912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125">
                <a:solidFill>
                  <a:srgbClr val="BBD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BD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08</a:t>
            </a:r>
            <a:endParaRPr sz="1125">
              <a:solidFill>
                <a:srgbClr val="BBD0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2242</Words>
  <Application>WPS 演示</Application>
  <PresentationFormat>Converted Presentation</PresentationFormat>
  <Paragraphs>237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FFF</cp:lastModifiedBy>
  <cp:revision>1</cp:revision>
  <dcterms:created xsi:type="dcterms:W3CDTF">2026-08-31T09:46:46Z</dcterms:created>
  <dcterms:modified xsi:type="dcterms:W3CDTF">2026-08-31T09:46:46Z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7452AD7BEBC34209A56532831FE81F89_12</vt:lpwstr>
  </property>
</Properties>
</file>