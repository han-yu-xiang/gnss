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2c94b484494be7" /><Relationship Type="http://schemas.openxmlformats.org/officeDocument/2006/relationships/extended-properties" Target="/docProps/app.xml" Id="R608db4da80244066" /><Relationship Type="http://schemas.openxmlformats.org/officeDocument/2006/relationships/officeDocument" Target="/ppt/presentation.xml" Id="R5a23caa8c548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613bdf97404a18"/>
  </p:sldMasterIdLst>
  <p:notesMasterIdLst>
    <p:notesMasterId xmlns:r="http://schemas.openxmlformats.org/officeDocument/2006/relationships" r:id="R27c2bbafd6c94ab4"/>
  </p:notesMasterIdLst>
  <p:sldIdLst>
    <p:sldId xmlns:r="http://schemas.openxmlformats.org/officeDocument/2006/relationships" id="256" r:id="Rdb7a2dd3391649d6"/>
    <p:sldId xmlns:r="http://schemas.openxmlformats.org/officeDocument/2006/relationships" id="257" r:id="R99dcb0550b4d4e62"/>
    <p:sldId xmlns:r="http://schemas.openxmlformats.org/officeDocument/2006/relationships" id="258" r:id="R7713b322dc684c71"/>
    <p:sldId xmlns:r="http://schemas.openxmlformats.org/officeDocument/2006/relationships" id="259" r:id="Rb7708506c90c4c79"/>
    <p:sldId xmlns:r="http://schemas.openxmlformats.org/officeDocument/2006/relationships" id="260" r:id="Rb83db35947184947"/>
    <p:sldId xmlns:r="http://schemas.openxmlformats.org/officeDocument/2006/relationships" id="261" r:id="Re9466d8a6e85458a"/>
    <p:sldId xmlns:r="http://schemas.openxmlformats.org/officeDocument/2006/relationships" id="262" r:id="R05e0e7ecdfa945e7"/>
    <p:sldId xmlns:r="http://schemas.openxmlformats.org/officeDocument/2006/relationships" id="263" r:id="R081815a38c4a4a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ed3a12d2704f2b" /><Relationship Type="http://schemas.openxmlformats.org/officeDocument/2006/relationships/slideMaster" Target="/ppt/slideMasters/slideMaster1.xml" Id="R65613bdf97404a18" /><Relationship Type="http://schemas.openxmlformats.org/officeDocument/2006/relationships/notesMaster" Target="/ppt/notesMasters/notesMaster1.xml" Id="R27c2bbafd6c94ab4" /><Relationship Type="http://schemas.openxmlformats.org/officeDocument/2006/relationships/presProps" Target="/ppt/presProps.xml" Id="Re951ab7d643f4a81" /><Relationship Type="http://schemas.openxmlformats.org/officeDocument/2006/relationships/viewProps" Target="/ppt/viewProps.xml" Id="R97cc10830bd64d69" /><Relationship Type="http://schemas.openxmlformats.org/officeDocument/2006/relationships/tableStyles" Target="/ppt/tableStyles.xml" Id="R6ec12e946add4ece" /><Relationship Type="http://schemas.openxmlformats.org/officeDocument/2006/relationships/slide" Target="/ppt/slides/slide1.xml" Id="Rdb7a2dd3391649d6" /><Relationship Type="http://schemas.openxmlformats.org/officeDocument/2006/relationships/slide" Target="/ppt/slides/slide2.xml" Id="R99dcb0550b4d4e62" /><Relationship Type="http://schemas.openxmlformats.org/officeDocument/2006/relationships/slide" Target="/ppt/slides/slide3.xml" Id="R7713b322dc684c71" /><Relationship Type="http://schemas.openxmlformats.org/officeDocument/2006/relationships/slide" Target="/ppt/slides/slide4.xml" Id="Rb7708506c90c4c79" /><Relationship Type="http://schemas.openxmlformats.org/officeDocument/2006/relationships/slide" Target="/ppt/slides/slide5.xml" Id="Rb83db35947184947" /><Relationship Type="http://schemas.openxmlformats.org/officeDocument/2006/relationships/slide" Target="/ppt/slides/slide6.xml" Id="Re9466d8a6e85458a" /><Relationship Type="http://schemas.openxmlformats.org/officeDocument/2006/relationships/slide" Target="/ppt/slides/slide7.xml" Id="R05e0e7ecdfa945e7" /><Relationship Type="http://schemas.openxmlformats.org/officeDocument/2006/relationships/slide" Target="/ppt/slides/slide8.xml" Id="R081815a38c4a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dd2606477c4f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8b77ba63b64466" /><Relationship Type="http://schemas.openxmlformats.org/officeDocument/2006/relationships/notesMaster" Target="/ppt/notesMasters/notesMaster1.xml" Id="Rf98670b8bed941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c03c21434401a" /><Relationship Type="http://schemas.openxmlformats.org/officeDocument/2006/relationships/notesMaster" Target="/ppt/notesMasters/notesMaster1.xml" Id="R72d1f55510cc47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5c2099e8c24af6" /><Relationship Type="http://schemas.openxmlformats.org/officeDocument/2006/relationships/notesMaster" Target="/ppt/notesMasters/notesMaster1.xml" Id="Rb51a04c944514e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9648e58ac84688" /><Relationship Type="http://schemas.openxmlformats.org/officeDocument/2006/relationships/notesMaster" Target="/ppt/notesMasters/notesMaster1.xml" Id="R1fffd6850efd46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551e0ebabc462d" /><Relationship Type="http://schemas.openxmlformats.org/officeDocument/2006/relationships/notesMaster" Target="/ppt/notesMasters/notesMaster1.xml" Id="R1d2745b3a64f44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2839c0c09048d8" /><Relationship Type="http://schemas.openxmlformats.org/officeDocument/2006/relationships/notesMaster" Target="/ppt/notesMasters/notesMaster1.xml" Id="R0d73752842f547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4bc3d2435045d4" /><Relationship Type="http://schemas.openxmlformats.org/officeDocument/2006/relationships/notesMaster" Target="/ppt/notesMasters/notesMaster1.xml" Id="R69ad99d8fc8446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ddee81b968408b" /><Relationship Type="http://schemas.openxmlformats.org/officeDocument/2006/relationships/notesMaster" Target="/ppt/notesMasters/notesMaster1.xml" Id="R526ad152d41a4b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docs/ACADEMIC_CHANNEL_MODELING_MASTER_PLAN.md</a:t>
            </a:r>
          </a:p>
          <a:p xmlns:a="http://schemas.openxmlformats.org/drawingml/2006/main">
            <a:r>
              <a:t>- docs/PHASE1_TRADITIONAL_CHANNEL_MODELING_SCIENTIFIC_CLOSURE.md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/>
          <a:p xmlns:a="http://schemas.openxmlformats.org/drawingml/2006/main">
            <a:r>
              <a:t>[Speaker cue]</a:t>
            </a:r>
          </a:p>
          <a:p xmlns:a="http://schemas.openxmlformats.org/drawingml/2006/main">
            <a:r>
              <a:t>开场先讲问题和目标：这不是一个完整电磁真值模型，而是把真实测量中的多径参数变成有条件、有边界的统计基线。</a:t>
            </a:r>
          </a:p>
          <a:p xmlns:a="http://schemas.openxmlformats.org/drawingml/2006/main">
            <a:r>
              <a:t>[/Speaker cue]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docs/PHASE1_TRADITIONAL_CHANNEL_MODELING_SCIENTIFIC_CLOSURE.md</a:t>
            </a:r>
          </a:p>
          <a:p xmlns:a="http://schemas.openxmlformats.org/drawingml/2006/main">
            <a:r>
              <a:t>- dataset_generation_logs/channel_modeling/environment_elevation_stage3_path_model_v1_20260829_r3/model_manifest.json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/>
          <a:p xmlns:a="http://schemas.openxmlformats.org/drawingml/2006/main">
            <a:r>
              <a:t>[Speaker cue]</a:t>
            </a:r>
          </a:p>
          <a:p xmlns:a="http://schemas.openxmlformats.org/drawingml/2006/main">
            <a:r>
              <a:t>这一页只讲数据链路：从真实车辆动态采集开始，经过 GNSS-SDR 和 NAV-aided SAGE，最后进入 Stage3 学术总体。</a:t>
            </a:r>
          </a:p>
          <a:p xmlns:a="http://schemas.openxmlformats.org/drawingml/2006/main">
            <a:r>
              <a:t>[/Speaker cue]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docs/PHASE1_TRADITIONAL_CHANNEL_MODELING_SCIENTIFIC_CLOSURE.md</a:t>
            </a:r>
          </a:p>
          <a:p xmlns:a="http://schemas.openxmlformats.org/drawingml/2006/main">
            <a:r>
              <a:t>- docs/GNSS_SAGE_ENGINEERING_HANDOFF_CURRENT.md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/>
          <a:p xmlns:a="http://schemas.openxmlformats.org/drawingml/2006/main">
            <a:r>
              <a:t>[Speaker cue]</a:t>
            </a:r>
          </a:p>
          <a:p xmlns:a="http://schemas.openxmlformats.org/drawingml/2006/main">
            <a:r>
              <a:t>用一条线讲清楚 Stage0–Stage4：Stage0/1 是窗口和候选，Stage2 做 fractional SAGE 参数估计，Stage3 做时间持续性筛选，Stage4 是更严格的联合确认。</a:t>
            </a:r>
          </a:p>
          <a:p xmlns:a="http://schemas.openxmlformats.org/drawingml/2006/main">
            <a:r>
              <a:t>[/Speaker cue]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docs/PHASE1_TRADITIONAL_CHANNEL_MODELING_SCIENTIFIC_CLOSURE.md</a:t>
            </a:r>
          </a:p>
          <a:p xmlns:a="http://schemas.openxmlformats.org/drawingml/2006/main">
            <a:r>
              <a:t>- dataset_generation_logs/channel_modeling/environment_elevation_stage3_path_model_v1_20260829_r3/model_manifest.json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/>
          <a:p xmlns:a="http://schemas.openxmlformats.org/drawingml/2006/main">
            <a:r>
              <a:t>[Speaker cue]</a:t>
            </a:r>
          </a:p>
          <a:p xmlns:a="http://schemas.openxmlformats.org/drawingml/2006/main">
            <a:r>
              <a:t>先给面试官一个总体量级，再解释为什么需要 weighting：连续窗口可能属于同一 algorithm-level persistent component，所以既保留观测，又避免重复中心过度支配统计。</a:t>
            </a:r>
          </a:p>
          <a:p xmlns:a="http://schemas.openxmlformats.org/drawingml/2006/main">
            <a:r>
              <a:t>[/Speaker cue]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E:/GNSS_Multipath_Project/dataset_generation_logs/channel_modeling/environment_elevation_stage3_path_model_v1_20260829_r3/source_population_audit.csv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E:/GNSS_Multipath_Project/dataset_generation_logs/channel_modeling/environment_elevation_stage3_path_model_v1_20260829_r3/selected_marginal_models.csv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E:/GNSS_Multipath_Project/dataset_generation_logs/channel_modeling/environment_elevation_stage3_path_model_v1_20260829_r3/model_manifest.json</a:t>
            </a:r>
          </a:p>
          <a:p xmlns:a="http://schemas.openxmlformats.org/drawingml/2006/main">
            <a:r>
              <a:t>- E:/GNSS_Multipath_Project/dataset_generation_logs/channel_modeling/phase1_scientific_closure_20260830_r2/figure_table_plan.csv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[Speaker cue]</a:t>
            </a:r>
          </a:p>
          <a:p xmlns:a="http://schemas.openxmlformats.org/drawingml/2006/main">
            <a:r>
              <a:t>这一页先说明分层结构，再用三张 global 拟合图把结果落到可见证据：柱形是按 track 权重汇总的 Stage3 观测，曲线是 r3 已存的 Lognormal/Normal 参数评估结果；三个参数分别建模，同时用高斯 Copula 保留联合关系。</a:t>
            </a:r>
          </a:p>
          <a:p xmlns:a="http://schemas.openxmlformats.org/drawingml/2006/main">
            <a:r>
              <a:t>[/Speaker cue]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E:/GNSS_Multipath_Project/dataset_generation_logs/channel_modeling/environment_elevation_stage3_path_model_v1_20260829_r3/source_population_audit.csv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E:/GNSS_Multipath_Project/dataset_generation_logs/channel_modeling/environment_elevation_stage3_path_model_v1_20260829_r3/selected_marginal_models.csv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E:/GNSS_Multipath_Project/dataset_generation_logs/channel_modeling/environment_elevation_stage3_path_model_v1_20260829_r3/model_manifest.json</a:t>
            </a:r>
          </a:p>
          <a:p xmlns:a="http://schemas.openxmlformats.org/drawingml/2006/main">
            <a:r>
              <a:t>- E:/GNSS_Multipath_Project/dataset_generation_logs/channel_modeling/phase1_scientific_closure_20260830_r2/figure_table_plan.csv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[Speaker cue]</a:t>
            </a:r>
          </a:p>
          <a:p xmlns:a="http://schemas.openxmlformats.org/drawingml/2006/main">
            <a:r>
              <a:t>这一页先说明分层结构，再用三张 global 拟合图把结果落到可见证据：柱形是按 track 权重汇总的 Stage3 观测，曲线是 r3 已存的 Lognormal/Normal 参数评估结果；三个参数分别建模，同时用高斯 Copula 保留联合关系。</a:t>
            </a:r>
          </a:p>
          <a:p xmlns:a="http://schemas.openxmlformats.org/drawingml/2006/main">
            <a:r>
              <a:t>[/Speaker cue]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E:/GNSS_Multipath_Project/dataset_generation_logs/channel_modeling/environment_elevation_stage3_path_model_v1_20260829_r3/cell_support_matrix.csv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E:/GNSS_Multipath_Project/dataset_generation_logs/channel_modeling/environment_elevation_stage3_path_model_v1_20260829_r3/scene_block_bootstrap.csv</a:t>
            </a:r>
          </a:p>
          <a:p xmlns:a="http://schemas.openxmlformats.org/drawingml/2006/main">
            <a:r>
              <a:t>- E:/GNSS_Multipath_Project/dataset_generation_logs/channel_modeling/environment_elevation_stage3_path_model_v1_20260829_r3/run_block_sensitivity.csv</a:t>
            </a:r>
          </a:p>
          <a:p xmlns:a="http://schemas.openxmlformats.org/drawingml/2006/main">
            <a:r>
              <a:t>- E:/GNSS_Multipath_Project/dataset_generation_logs/channel_modeling/phase1_scientific_closure_20260830_r2/robustness_matrix.csv</a:t>
            </a:r>
          </a:p>
          <a:p xmlns:a="http://schemas.openxmlformats.org/drawingml/2006/main">
            <a:r>
              <a:t>- E:/GNSS_Multipath_Project/dataset_generation_logs/channel_modeling/phase1_scientific_closure_20260830_r2/independent_qa_result.json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[Speaker cue]</a:t>
            </a:r>
          </a:p>
          <a:p xmlns:a="http://schemas.openxmlformats.org/drawingml/2006/main">
            <a:r>
              <a:t>这页把结果和边界放在一起：11/12 个组合有 Stage3 直接观测，但 Highway/Open 的低仰角不补数据；稳健性检查保留场景和 run 的依赖结构，因此环境、仰角和交互结论都只解释到当前证据支持的范围。</a:t>
            </a:r>
          </a:p>
          <a:p xmlns:a="http://schemas.openxmlformats.org/drawingml/2006/main">
            <a:r>
              <a:t>[/Speaker cue]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docs/ACADEMIC_CHANNEL_MODELING_MASTER_PLAN.md</a:t>
            </a:r>
          </a:p>
          <a:p xmlns:a="http://schemas.openxmlformats.org/drawingml/2006/main">
            <a:r>
              <a:t>- docs/PHASE1_TRADITIONAL_CHANNEL_MODELING_SCIENTIFIC_CLOSURE.md</a:t>
            </a:r>
          </a:p>
          <a:p xmlns:a="http://schemas.openxmlformats.org/drawingml/2006/main">
            <a:r>
              <a:t>- docs/GNSS_SAGE_PAPER_HANDOFF_CURRENT.md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/>
          <a:p xmlns:a="http://schemas.openxmlformats.org/drawingml/2006/main">
            <a:r>
              <a:t>[Speaker cue]</a:t>
            </a:r>
          </a:p>
          <a:p xmlns:a="http://schemas.openxmlformats.org/drawingml/2006/main">
            <a:r>
              <a:t>最后不要再堆技术细节：总结四项贡献，再明确 Phase 1 是 valid academic baseline，AI 只是后续、尚未授权的 benchmark 路线。用底部一句话收尾。</a:t>
            </a:r>
          </a:p>
          <a:p xmlns:a="http://schemas.openxmlformats.org/drawingml/2006/main">
            <a:r>
              <a:t>[/Speaker cue]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c391600e04d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de1c4fa89747de" /><Relationship Type="http://schemas.openxmlformats.org/officeDocument/2006/relationships/slideLayout" Target="/ppt/slideLayouts/slideLayout1.xml" Id="Rbe9c5ddc104c4e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c5ddc104c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87ee7ecbb4d32" /><Relationship Type="http://schemas.openxmlformats.org/officeDocument/2006/relationships/notesSlide" Target="/ppt/notesSlides/notesSlide1.xml" Id="R872ce8d87eb840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0828bc07f4f22" /><Relationship Type="http://schemas.openxmlformats.org/officeDocument/2006/relationships/notesSlide" Target="/ppt/notesSlides/notesSlide2.xml" Id="R63bdde7e2902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daab0f3e54c13" /><Relationship Type="http://schemas.openxmlformats.org/officeDocument/2006/relationships/notesSlide" Target="/ppt/notesSlides/notesSlide3.xml" Id="R2364a3efb89f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dfd716b13498f" /><Relationship Type="http://schemas.openxmlformats.org/officeDocument/2006/relationships/notesSlide" Target="/ppt/notesSlides/notesSlide4.xml" Id="R7f6ab91b5ac840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25494d111442d" /><Relationship Type="http://schemas.openxmlformats.org/officeDocument/2006/relationships/image" Target="/ppt/media/image.png" Id="R75494672dbd74c14" /><Relationship Type="http://schemas.openxmlformats.org/officeDocument/2006/relationships/image" Target="/ppt/media/image2.png" Id="R98576245db14407b" /><Relationship Type="http://schemas.openxmlformats.org/officeDocument/2006/relationships/image" Target="/ppt/media/image3.png" Id="R045ec3d5957747ce" /><Relationship Type="http://schemas.openxmlformats.org/officeDocument/2006/relationships/notesSlide" Target="/ppt/notesSlides/notesSlide5.xml" Id="Rb6725ac4fed34e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dfb5c311543f4" /><Relationship Type="http://schemas.openxmlformats.org/officeDocument/2006/relationships/image" Target="/ppt/media/image.png" Id="R369c5d3bf6a34040" /><Relationship Type="http://schemas.openxmlformats.org/officeDocument/2006/relationships/notesSlide" Target="/ppt/notesSlides/notesSlide6.xml" Id="R636d39352c1845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10808850942c9" /><Relationship Type="http://schemas.openxmlformats.org/officeDocument/2006/relationships/notesSlide" Target="/ppt/notesSlides/notesSlide7.xml" Id="R12940faf0d3a4e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43a0a678442bb" /><Relationship Type="http://schemas.openxmlformats.org/officeDocument/2006/relationships/notesSlide" Target="/ppt/notesSlides/notesSlide8.xml" Id="R484796bb2c3641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4C8029B-ADE9-4438-83A4-E6EAB29C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AD01549F-1327-4D56-979F-5A4490AE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GNSS 多径信道建模项目</a:t>
            </a:r>
            <a:endParaRPr sz="40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D235260-7332-45FC-9716-62511553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C8D9E5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C8D9E5"/>
                </a:solidFill>
                <a:latin typeface="微软雅黑"/>
                <a:ea typeface="微软雅黑"/>
                <a:cs typeface="微软雅黑"/>
              </a:rPr>
              <a:t>从真实车辆动态信号，到 Environment × Elevation 统计模型</a:t>
            </a:r>
            <a:endParaRPr sz="1875">
              <a:solidFill>
                <a:srgbClr val="C8D9E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141E9731-FC7B-435B-8935-3F620E2B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952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PHASE 1 · 学术主线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5A47ED-8005-4080-8B9E-DFA2FC18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2A3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2A36B"/>
                </a:solidFill>
                <a:latin typeface="微软雅黑"/>
                <a:ea typeface="微软雅黑"/>
                <a:cs typeface="微软雅黑"/>
              </a:rPr>
              <a:t>动态车辆中的多径会影响定位与信号质量</a:t>
            </a:r>
            <a:endParaRPr sz="1350" b="1">
              <a:solidFill>
                <a:srgbClr val="F2A3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4F0679C-6BDA-4D87-B624-143BF5CC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FE1E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7FE1E3"/>
                </a:solidFill>
                <a:latin typeface="微软雅黑"/>
                <a:ea typeface="微软雅黑"/>
                <a:cs typeface="微软雅黑"/>
              </a:rPr>
              <a:t>核心问题</a:t>
            </a:r>
            <a:endParaRPr sz="1575" b="1">
              <a:solidFill>
                <a:srgbClr val="7FE1E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E8E338-54FB-417C-BDB5-CAB4C79B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能否把真实采集到的多径，转化为</a:t>
            </a:r>
            <a:endParaRPr sz="21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可解释、可复用的条件统计基线？</a:t>
            </a:r>
            <a:endParaRPr sz="21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A6D39FC-2517-4A43-83B9-182B4519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813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4647C"/>
            </a:solidFill>
            <a:prstDash val="solid"/>
          </a:ln>
        </p:spPr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F63E34E8-A09E-497E-BA9A-15826AB2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86125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21332E28-02B5-4BB7-BB5A-46A3D0DA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raw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IQ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783130BD-37BF-4C64-A81A-18DC2D1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SAGE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paths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F0001F9B-44DA-4EF6-97D1-E3602A05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381125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conditional</a:t>
            </a:r>
            <a:endParaRPr sz="13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model</a:t>
            </a:r>
            <a:endParaRPr sz="13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24F01F4-2BB8-4A7C-A714-3DC26E68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BBD0D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BBD0DE"/>
                </a:solidFill>
                <a:latin typeface="微软雅黑"/>
                <a:ea typeface="微软雅黑"/>
                <a:cs typeface="微软雅黑"/>
              </a:rPr>
              <a:t>真实信号</a:t>
            </a:r>
            <a:endParaRPr sz="1200">
              <a:solidFill>
                <a:srgbClr val="BBD0D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C8C1A3C-A52B-4C02-A3E2-432CBFD7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957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BBD0D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BBD0DE"/>
                </a:solidFill>
                <a:latin typeface="微软雅黑"/>
                <a:ea typeface="微软雅黑"/>
                <a:cs typeface="微软雅黑"/>
              </a:rPr>
              <a:t>delay · Doppler</a:t>
            </a:r>
            <a:endParaRPr sz="1200">
              <a:solidFill>
                <a:srgbClr val="BBD0D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200">
                <a:solidFill>
                  <a:srgbClr val="BBD0D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BBD0DE"/>
                </a:solidFill>
                <a:latin typeface="微软雅黑"/>
                <a:ea typeface="微软雅黑"/>
                <a:cs typeface="微软雅黑"/>
              </a:rPr>
              <a:t>relative power</a:t>
            </a:r>
            <a:endParaRPr sz="1200">
              <a:solidFill>
                <a:srgbClr val="BBD0D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EE564AF-46CA-44C3-8F0D-8768DBB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95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BBD0D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BBD0DE"/>
                </a:solidFill>
                <a:latin typeface="微软雅黑"/>
                <a:ea typeface="微软雅黑"/>
                <a:cs typeface="微软雅黑"/>
              </a:rPr>
              <a:t>Environment × Elevation</a:t>
            </a:r>
            <a:endParaRPr sz="1200">
              <a:solidFill>
                <a:srgbClr val="BBD0D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98656C7-7552-4B9A-9B5C-8357E75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C8D9E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C8D9E5"/>
                </a:solidFill>
                <a:latin typeface="微软雅黑"/>
                <a:ea typeface="微软雅黑"/>
                <a:cs typeface="微软雅黑"/>
              </a:rPr>
              <a:t>Measurement-derived · conditional · 有边界</a:t>
            </a:r>
            <a:endParaRPr sz="1350">
              <a:solidFill>
                <a:srgbClr val="C8D9E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5DB51B9-2C36-4C60-81AD-ED3B9B1C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BBD0D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BBD0DE"/>
                </a:solidFill>
                <a:latin typeface="微软雅黑"/>
                <a:ea typeface="微软雅黑"/>
                <a:cs typeface="微软雅黑"/>
              </a:rPr>
              <a:t>01 / 08</a:t>
            </a:r>
            <a:endParaRPr sz="1125">
              <a:solidFill>
                <a:srgbClr val="BBD0DE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76833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7D75317-C7AC-40CB-AE72-2FE4D892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rPr>
              <a:t>01 · 数据基础</a:t>
            </a:r>
            <a:endParaRPr sz="1125" b="1">
              <a:solidFill>
                <a:srgbClr val="0D80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584C6C8-F994-49E1-A6B4-7B79042D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真实动态采集，形成可追溯的建模链路</a:t>
            </a:r>
            <a:endParaRPr sz="28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8437FAE-1357-4D90-8054-F2A61598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8090"/>
            </a:solidFill>
            <a:prstDash val="solid"/>
          </a:ln>
        </p:spPr>
      </p:sp>
      <p:sp>
        <p:nvSpPr>
          <p:cNvPr id="4" name="右箭头 3">
            <a:extLst xmlns:a="http://schemas.openxmlformats.org/drawingml/2006/main">
              <a:ext uri="{FF2B5EF4-FFF2-40B4-BE49-F238E27FC236}">
                <a16:creationId xmlns:a16="http://schemas.microsoft.com/office/drawing/2014/main" id="{4DCD6C47-7B18-4AB8-B5C9-67AF0F7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051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右箭头 4">
            <a:extLst xmlns:a="http://schemas.openxmlformats.org/drawingml/2006/main">
              <a:ext uri="{FF2B5EF4-FFF2-40B4-BE49-F238E27FC236}">
                <a16:creationId xmlns:a16="http://schemas.microsoft.com/office/drawing/2014/main" id="{587EF285-3536-4298-B954-9F65B22F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051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右箭头 5">
            <a:extLst xmlns:a="http://schemas.openxmlformats.org/drawingml/2006/main">
              <a:ext uri="{FF2B5EF4-FFF2-40B4-BE49-F238E27FC236}">
                <a16:creationId xmlns:a16="http://schemas.microsoft.com/office/drawing/2014/main" id="{12FEADBF-CE81-4457-BD78-E9B2A31E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051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右箭头 6">
            <a:extLst xmlns:a="http://schemas.openxmlformats.org/drawingml/2006/main">
              <a:ext uri="{FF2B5EF4-FFF2-40B4-BE49-F238E27FC236}">
                <a16:creationId xmlns:a16="http://schemas.microsoft.com/office/drawing/2014/main" id="{E5EA9404-3412-4B65-80EB-DE0E4BFB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051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lide-2-node-76">
            <a:extLst xmlns:a="http://schemas.openxmlformats.org/drawingml/2006/main">
              <a:ext uri="{FF2B5EF4-FFF2-40B4-BE49-F238E27FC236}">
                <a16:creationId xmlns:a16="http://schemas.microsoft.com/office/drawing/2014/main" id="{8AA34779-5800-4033-AB60-446988D2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600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车辆动态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真实采集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slide-2-node-302">
            <a:extLst xmlns:a="http://schemas.openxmlformats.org/drawingml/2006/main">
              <a:ext uri="{FF2B5EF4-FFF2-40B4-BE49-F238E27FC236}">
                <a16:creationId xmlns:a16="http://schemas.microsoft.com/office/drawing/2014/main" id="{8C89CD69-9945-4B97-B869-19B5E042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1600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GPS L1 C/A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10.23 MHz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lide-2-node-530">
            <a:extLst xmlns:a="http://schemas.openxmlformats.org/drawingml/2006/main">
              <a:ext uri="{FF2B5EF4-FFF2-40B4-BE49-F238E27FC236}">
                <a16:creationId xmlns:a16="http://schemas.microsoft.com/office/drawing/2014/main" id="{2F67B129-B49E-4E01-8F5C-7E038C6E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1600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GNSS-SDR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tracking / telemetry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slide-2-node-758">
            <a:extLst xmlns:a="http://schemas.openxmlformats.org/drawingml/2006/main">
              <a:ext uri="{FF2B5EF4-FFF2-40B4-BE49-F238E27FC236}">
                <a16:creationId xmlns:a16="http://schemas.microsoft.com/office/drawing/2014/main" id="{15E04E5F-8D93-40C4-B047-C147652C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16002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NAV-aided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SAGE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lide-2-node-986">
            <a:extLst xmlns:a="http://schemas.openxmlformats.org/drawingml/2006/main">
              <a:ext uri="{FF2B5EF4-FFF2-40B4-BE49-F238E27FC236}">
                <a16:creationId xmlns:a16="http://schemas.microsoft.com/office/drawing/2014/main" id="{8090F94D-85E9-4103-A3F9-C7F9E897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24150"/>
            <a:ext cx="1809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Stage3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建模总体</a:t>
            </a:r>
            <a:endParaRPr sz="17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163D1F-97C0-4297-B431-A85BABCA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raw IQ</a:t>
            </a:r>
            <a:endParaRPr sz="1275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95698CC-B59A-422F-AE0C-AACE1A9E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719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tracking / nav</a:t>
            </a:r>
            <a:endParaRPr sz="1275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9689DCD-BEC4-4AC9-9559-5BD74BC8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3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candidate windows</a:t>
            </a:r>
            <a:endParaRPr sz="1275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591969-E88F-4977-9E48-6B670963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719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89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delay / Doppler / power</a:t>
            </a:r>
            <a:endParaRPr sz="1275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7CB954E-4BA8-4DF0-B780-D4BFB089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71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8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reliable / persistent observations</a:t>
            </a:r>
            <a:endParaRPr sz="120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lide-2-principle">
            <a:extLst xmlns:a="http://schemas.openxmlformats.org/drawingml/2006/main">
              <a:ext uri="{FF2B5EF4-FFF2-40B4-BE49-F238E27FC236}">
                <a16:creationId xmlns:a16="http://schemas.microsoft.com/office/drawing/2014/main" id="{80B70266-C3E9-41FB-8A13-30E6C569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838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5E6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75E69"/>
                </a:solidFill>
                <a:latin typeface="微软雅黑"/>
                <a:ea typeface="微软雅黑"/>
                <a:cs typeface="微软雅黑"/>
              </a:rPr>
              <a:t>关键原则：数据链路和每个阶段都保留 provenance 与独立 QA</a:t>
            </a:r>
            <a:endParaRPr sz="1650" b="1">
              <a:solidFill>
                <a:srgbClr val="075E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BFAF1145-F8AC-4C71-A482-3FF24F77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6D24E2C-A8CC-4E4C-BBB1-5C5226A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A77ADE7-039A-469C-A323-610BF4A4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02 / 08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17919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008DB80-FAF7-4661-AFE9-040844FE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rPr>
              <a:t>02 · 算法设计</a:t>
            </a:r>
            <a:endParaRPr sz="1125" b="1">
              <a:solidFill>
                <a:srgbClr val="0D80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AB57367-FB2E-4662-B01B-CE119A25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算法设计把“候选”逐步收敛为“可靠观测”</a:t>
            </a:r>
            <a:endParaRPr sz="28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B1BE8C5F-7C88-420F-A62E-86B526F4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8090"/>
            </a:solidFill>
            <a:prstDash val="solid"/>
          </a:ln>
        </p:spPr>
      </p:sp>
      <p:sp>
        <p:nvSpPr>
          <p:cNvPr id="7" name="右箭头 6">
            <a:extLst xmlns:a="http://schemas.openxmlformats.org/drawingml/2006/main">
              <a:ext uri="{FF2B5EF4-FFF2-40B4-BE49-F238E27FC236}">
                <a16:creationId xmlns:a16="http://schemas.microsoft.com/office/drawing/2014/main" id="{862BED12-B559-4545-9A4D-A0E6BBC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-3-Stage0">
            <a:extLst xmlns:a="http://schemas.openxmlformats.org/drawingml/2006/main">
              <a:ext uri="{FF2B5EF4-FFF2-40B4-BE49-F238E27FC236}">
                <a16:creationId xmlns:a16="http://schemas.microsoft.com/office/drawing/2014/main" id="{31CD86B3-364D-4FA9-A29D-4815F983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000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564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Stage0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有效 NAV symbol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构建完整 40 ms window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lide-3-Stage1">
            <a:extLst xmlns:a="http://schemas.openxmlformats.org/drawingml/2006/main">
              <a:ext uri="{FF2B5EF4-FFF2-40B4-BE49-F238E27FC236}">
                <a16:creationId xmlns:a16="http://schemas.microsoft.com/office/drawing/2014/main" id="{7C2A385F-7E42-49E9-A065-1458E38E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0"/>
            <a:ext cx="2190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5E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2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Stage1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NAV-wiped 信号 × 本地 PRN C/A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delay–Doppler 相关筛选候选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slide-3-Stage2">
            <a:extLst xmlns:a="http://schemas.openxmlformats.org/drawingml/2006/main">
              <a:ext uri="{FF2B5EF4-FFF2-40B4-BE49-F238E27FC236}">
                <a16:creationId xmlns:a16="http://schemas.microsoft.com/office/drawing/2014/main" id="{EBFD5072-6C30-41ED-86DD-1F194CB8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81300"/>
            <a:ext cx="33813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91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Stage2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fractional SAGE, L=1–4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估计 delay / Doppler / relative power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lide-3-Stage3">
            <a:extLst xmlns:a="http://schemas.openxmlformats.org/drawingml/2006/main">
              <a:ext uri="{FF2B5EF4-FFF2-40B4-BE49-F238E27FC236}">
                <a16:creationId xmlns:a16="http://schemas.microsoft.com/office/drawing/2014/main" id="{14FF8802-ED8D-40C6-8D83-910ED5E7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1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40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Stage3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相邻窗口 persistence 检查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 reliable / persistent multipath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F3AF763-BB52-4F8F-A050-74FFBD18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screening</a:t>
            </a:r>
            <a:endParaRPr sz="1350" b="1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0A0011F-87E7-4E9A-9E36-B0132D7E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33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parameter estimation</a:t>
            </a:r>
            <a:endParaRPr sz="1350" b="1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8DECDEB-8F87-424A-A2CC-24AB63B3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reliability</a:t>
            </a:r>
            <a:endParaRPr sz="1350" b="1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F8CE12DB-9159-43B0-BEE8-C87DA6FB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F491FAA-C91B-441E-B324-F5259D96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72186F2-3D15-4F80-85A1-53FD5E0E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03 / 08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9225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D0FFB4B-270C-4C7E-A0FE-9DA710FE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rPr>
              <a:t>04 · 建模总体</a:t>
            </a:r>
            <a:endParaRPr sz="1125" b="1">
              <a:solidFill>
                <a:srgbClr val="0D80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FFCE740-03D8-4397-AD75-986EFB20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Phase 1 的有效总体：783 条观测，依赖修正后进入建模</a:t>
            </a:r>
            <a:endParaRPr sz="28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0BDB201-AD31-4C38-8343-32D40DE2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8090"/>
            </a:solidFill>
            <a:prstDash val="solid"/>
          </a:ln>
        </p:spPr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B39FC9AB-D6E1-48ED-AE48-4473DC5C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" y="1762125"/>
            <a:ext cx="3429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C64C37-E511-45E2-950D-2571B177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" y="2228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783</a:t>
            </a:r>
            <a:endParaRPr sz="64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9AA49A-9EEC-4394-AB7E-DA7A81BD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3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FE7E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BFE7EA"/>
                </a:solidFill>
                <a:latin typeface="微软雅黑"/>
                <a:ea typeface="微软雅黑"/>
                <a:cs typeface="微软雅黑"/>
              </a:rPr>
              <a:t>Stage3 academic observations</a:t>
            </a:r>
            <a:endParaRPr sz="1650" b="1">
              <a:solidFill>
                <a:srgbClr val="BFE7E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F88831-A19F-4A79-8ECB-45CED951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385762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D8E6E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D8E6EF"/>
                </a:solidFill>
                <a:latin typeface="微软雅黑"/>
                <a:ea typeface="微软雅黑"/>
                <a:cs typeface="微软雅黑"/>
              </a:rPr>
              <a:t>保留全部观测；不等于 783 个独立物理反射体</a:t>
            </a:r>
            <a:br/>
            <a:r>
              <a:rPr sz="1275">
                <a:solidFill>
                  <a:srgbClr val="D8E6EF"/>
                </a:solidFill>
                <a:latin typeface="微软雅黑"/>
                <a:ea typeface="微软雅黑"/>
                <a:cs typeface="微软雅黑"/>
              </a:rPr>
              <a:t>783</a:t>
            </a:r>
            <a:r>
              <a:rPr sz="1275">
                <a:solidFill>
                  <a:srgbClr val="D8E6EF"/>
                </a:solidFill>
                <a:latin typeface="微软雅黑"/>
                <a:ea typeface="微软雅黑"/>
                <a:cs typeface="微软雅黑"/>
              </a:rPr>
              <a:t>条多径（内有</a:t>
            </a:r>
            <a:r>
              <a:rPr sz="1275">
                <a:solidFill>
                  <a:srgbClr val="D8E6EF"/>
                </a:solidFill>
                <a:latin typeface="微软雅黑"/>
                <a:ea typeface="微软雅黑"/>
                <a:cs typeface="微软雅黑"/>
              </a:rPr>
              <a:t>重复）</a:t>
            </a:r>
            <a:endParaRPr sz="1275">
              <a:solidFill>
                <a:srgbClr val="D8E6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8E5292-A567-40FD-B1A4-93155480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D809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D8090"/>
                </a:solidFill>
                <a:latin typeface="微软雅黑"/>
                <a:ea typeface="微软雅黑"/>
                <a:cs typeface="微软雅黑"/>
              </a:rPr>
              <a:t>366</a:t>
            </a:r>
            <a:endParaRPr sz="2400" b="1">
              <a:solidFill>
                <a:srgbClr val="0D80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A5C306B-3E95-4A73-B688-A8E0BC49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61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algorithm-level tracks</a:t>
            </a:r>
            <a:br/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去掉重复的（一条</a:t>
            </a: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路径在时间上连续）</a:t>
            </a:r>
            <a:endParaRPr sz="120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2202F6C-2B4C-4B02-8274-8C1A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D809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D8090"/>
                </a:solidFill>
                <a:latin typeface="微软雅黑"/>
                <a:ea typeface="微软雅黑"/>
                <a:cs typeface="微软雅黑"/>
              </a:rPr>
              <a:t>445</a:t>
            </a:r>
            <a:endParaRPr sz="2400" b="1">
              <a:solidFill>
                <a:srgbClr val="0D80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FBE08BB-B4AD-41FB-B46C-57670DB3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centers</a:t>
            </a:r>
            <a:br/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有多径的</a:t>
            </a: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窗口</a:t>
            </a:r>
            <a:endParaRPr sz="120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04D45AC-0F3C-42D9-9E8D-0D95C8F1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07A3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07A3F"/>
                </a:solidFill>
                <a:latin typeface="微软雅黑"/>
                <a:ea typeface="微软雅黑"/>
                <a:cs typeface="微软雅黑"/>
              </a:rPr>
              <a:t>716</a:t>
            </a:r>
            <a:endParaRPr sz="2400" b="1">
              <a:solidFill>
                <a:srgbClr val="E07A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69D250C-98D5-43F8-A4DB-E9BB5624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elevation-ready</a:t>
            </a:r>
            <a:br/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有可靠</a:t>
            </a: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仰角高度信息</a:t>
            </a:r>
            <a:endParaRPr sz="120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326AD9-DBAC-4F00-9558-96E3ACD1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383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2365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23653"/>
                </a:solidFill>
                <a:latin typeface="微软雅黑"/>
                <a:ea typeface="微软雅黑"/>
                <a:cs typeface="微软雅黑"/>
              </a:rPr>
              <a:t>50</a:t>
            </a:r>
            <a:endParaRPr sz="2400" b="1">
              <a:solidFill>
                <a:srgbClr val="12365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F79D89A-E0A8-42B5-A917-7DEEBAB3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14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runs</a:t>
            </a:r>
            <a:br/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50</a:t>
            </a: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个</a:t>
            </a: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SAGE</a:t>
            </a: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独立处理的</a:t>
            </a: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流程</a:t>
            </a:r>
            <a:endParaRPr sz="120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B8FB698-6944-4EE7-959C-9EB4D6B8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810" y="29972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2365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23653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2400" b="1">
              <a:solidFill>
                <a:srgbClr val="12365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59388E1-76EC-447D-AC95-D116788B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055" y="3371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scenes</a:t>
            </a:r>
            <a:endParaRPr sz="120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BBA3C86-725D-40FA-BA41-4A14D92A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2365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23653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2400" b="1">
              <a:solidFill>
                <a:srgbClr val="12365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884BFA3-6894-459B-B5D4-D03ED922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05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PRNs</a:t>
            </a:r>
            <a:endParaRPr sz="120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1C614744-447C-4B2F-981C-CDD1CE3B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215" y="3284855"/>
            <a:ext cx="3511550" cy="6921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权重：  wᵢ = 1 / track_size</a:t>
            </a:r>
            <a:r>
              <a:rPr sz="15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（出现次数）</a:t>
            </a:r>
            <a:endParaRPr sz="1575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每条 algorithm track 的总权重保持为 1</a:t>
            </a:r>
            <a:endParaRPr sz="1575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63CE8181-D94F-4C45-9430-BA951C83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7CB02E0-97D7-4BCC-947A-7CA34F85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202E0FF-4E00-4741-B2EA-871DCCC6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04 / 08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8045F70-B7EA-41CC-85D6-1C74A7AC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5035"/>
            <a:ext cx="3091815" cy="1499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1400"/>
              <a:t>真实时间窗口：</a:t>
            </a:r>
            <a:endParaRPr sz="1400"/>
          </a:p>
          <a:p xmlns:a="http://schemas.openxmlformats.org/drawingml/2006/main">
            <a:r>
              <a:rPr sz="1400"/>
              <a:t>98 ─ 99 ─ 100 ─ 101 ─ 102 ─ 103 ─ 104</a:t>
            </a:r>
            <a:endParaRPr sz="1400"/>
          </a:p>
          <a:p xmlns:a="http://schemas.openxmlformats.org/drawingml/2006/main">
            <a:r>
              <a:rPr sz="1400"/>
              <a:t>          ●      ●        ●         ●        ●</a:t>
            </a:r>
            <a:endParaRPr sz="1400"/>
          </a:p>
          <a:p xmlns:a="http://schemas.openxmlformats.org/drawingml/2006/main">
            <a:r>
              <a:rPr sz="1400"/>
              <a:t>      大致都能看到参数相近的次径</a:t>
            </a:r>
            <a:br/>
            <a:r>
              <a:rPr sz="1400"/>
              <a:t>至少连续 3 个窗口</a:t>
            </a:r>
            <a:endParaRPr sz="1400"/>
          </a:p>
          <a:p xmlns:a="http://schemas.openxmlformats.org/drawingml/2006/main">
            <a:endParaRPr sz="1400"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D3B96B1A-4F2D-4D32-8E94-430E083C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380" y="4653280"/>
            <a:ext cx="6096000" cy="1599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最终：</a:t>
            </a:r>
            <a:endParaRPr sz="1400"/>
          </a:p>
          <a:p xmlns:a="http://schemas.openxmlformats.org/drawingml/2006/main">
            <a:endParaRPr sz="1400"/>
          </a:p>
          <a:p xmlns:a="http://schemas.openxmlformats.org/drawingml/2006/main">
            <a:r>
              <a:rPr sz="1400"/>
              <a:t>center 100 observation ─┐</a:t>
            </a:r>
            <a:endParaRPr sz="1400"/>
          </a:p>
          <a:p xmlns:a="http://schemas.openxmlformats.org/drawingml/2006/main">
            <a:r>
              <a:rPr sz="1400"/>
              <a:t>center 101 observation ─┼─→ Algorithm Track #17</a:t>
            </a:r>
            <a:endParaRPr sz="1400"/>
          </a:p>
          <a:p xmlns:a="http://schemas.openxmlformats.org/drawingml/2006/main">
            <a:r>
              <a:rPr sz="1400"/>
              <a:t>center 102 observation ─┘</a:t>
            </a:r>
            <a:endParaRPr sz="1400"/>
          </a:p>
          <a:p xmlns:a="http://schemas.openxmlformats.org/drawingml/2006/main">
            <a:endParaRPr sz="1400"/>
          </a:p>
          <a:p xmlns:a="http://schemas.openxmlformats.org/drawingml/2006/main">
            <a:r>
              <a:rPr sz="1400"/>
              <a:t>track_size = 3</a:t>
            </a:r>
            <a:endParaRPr sz="1400"/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83061DE4-6020-431E-B2CE-0174C3AB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020" y="3750310"/>
            <a:ext cx="2286000" cy="3107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Stage3 center 100：</a:t>
            </a:r>
            <a:endParaRPr sz="1400"/>
          </a:p>
          <a:p xmlns:a="http://schemas.openxmlformats.org/drawingml/2006/main">
            <a:r>
              <a:rPr sz="1400"/>
              <a:t>[98  99  100 101 102]</a:t>
            </a:r>
            <a:endParaRPr sz="1400"/>
          </a:p>
          <a:p xmlns:a="http://schemas.openxmlformats.org/drawingml/2006/main">
            <a:r>
              <a:rPr sz="1400"/>
              <a:t>        ✓   ✓   ✓   ✓</a:t>
            </a:r>
            <a:endParaRPr sz="1400"/>
          </a:p>
          <a:p xmlns:a="http://schemas.openxmlformats.org/drawingml/2006/main">
            <a:r>
              <a:rPr sz="1400"/>
              <a:t>matched = 4</a:t>
            </a:r>
            <a:endParaRPr sz="1400"/>
          </a:p>
          <a:p xmlns:a="http://schemas.openxmlformats.org/drawingml/2006/main">
            <a:endParaRPr sz="1400"/>
          </a:p>
          <a:p xmlns:a="http://schemas.openxmlformats.org/drawingml/2006/main">
            <a:r>
              <a:rPr sz="1400"/>
              <a:t>Stage3 center 101：</a:t>
            </a:r>
            <a:endParaRPr sz="1400"/>
          </a:p>
          <a:p xmlns:a="http://schemas.openxmlformats.org/drawingml/2006/main">
            <a:r>
              <a:rPr sz="1400"/>
              <a:t>    [99  100 101 102 103]</a:t>
            </a:r>
            <a:endParaRPr sz="1400"/>
          </a:p>
          <a:p xmlns:a="http://schemas.openxmlformats.org/drawingml/2006/main">
            <a:r>
              <a:rPr sz="1400"/>
              <a:t>     ✓   ✓   ✓   ✓   ✓</a:t>
            </a:r>
            <a:endParaRPr sz="1400"/>
          </a:p>
          <a:p xmlns:a="http://schemas.openxmlformats.org/drawingml/2006/main">
            <a:r>
              <a:rPr sz="1400"/>
              <a:t>matched = 5</a:t>
            </a:r>
            <a:endParaRPr sz="1400"/>
          </a:p>
          <a:p xmlns:a="http://schemas.openxmlformats.org/drawingml/2006/main">
            <a:endParaRPr sz="1400"/>
          </a:p>
          <a:p xmlns:a="http://schemas.openxmlformats.org/drawingml/2006/main">
            <a:r>
              <a:rPr sz="1400"/>
              <a:t>Stage3 center 102：</a:t>
            </a:r>
            <a:endParaRPr sz="1400"/>
          </a:p>
          <a:p xmlns:a="http://schemas.openxmlformats.org/drawingml/2006/main">
            <a:r>
              <a:rPr sz="1400"/>
              <a:t>        [100 101 102 103 104]</a:t>
            </a:r>
            <a:endParaRPr sz="1400"/>
          </a:p>
          <a:p xmlns:a="http://schemas.openxmlformats.org/drawingml/2006/main">
            <a:r>
              <a:rPr sz="1400"/>
              <a:t>          ✓   ✓   ✓   ✓</a:t>
            </a:r>
            <a:endParaRPr sz="1400"/>
          </a:p>
          <a:p xmlns:a="http://schemas.openxmlformats.org/drawingml/2006/main">
            <a:r>
              <a:rPr sz="1400"/>
              <a:t>matched = 4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57478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0ABA1A8-B4B8-4F7B-8F54-0D83421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rPr>
              <a:t>05 · 传统统计模型</a:t>
            </a:r>
            <a:endParaRPr sz="1125" b="1">
              <a:solidFill>
                <a:srgbClr val="0D80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A4858E2-E544-493F-B164-1C5E751F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传统统计模型：分层结构与拟合结果</a:t>
            </a:r>
            <a:endParaRPr sz="28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F6F143A1-605A-4BF3-814A-62FE6CFB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8090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82D939C-7DAC-4875-9431-AC1F9B8D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怎么分层建模</a:t>
            </a:r>
            <a:endParaRPr sz="16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右箭头 4">
            <a:extLst xmlns:a="http://schemas.openxmlformats.org/drawingml/2006/main">
              <a:ext uri="{FF2B5EF4-FFF2-40B4-BE49-F238E27FC236}">
                <a16:creationId xmlns:a16="http://schemas.microsoft.com/office/drawing/2014/main" id="{BB091CE6-4A79-4481-9F23-1C71103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04950" y="284797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右箭头 5">
            <a:extLst xmlns:a="http://schemas.openxmlformats.org/drawingml/2006/main">
              <a:ext uri="{FF2B5EF4-FFF2-40B4-BE49-F238E27FC236}">
                <a16:creationId xmlns:a16="http://schemas.microsoft.com/office/drawing/2014/main" id="{2F2389D6-DFC3-4C34-A3B2-3754FC53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04950" y="4133850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49C2CDE-F347-4692-8C2A-4D183275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52625" cy="723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整体模型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先用全部有效多径数据，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得到总体统计规律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57AA58C-437D-456B-8F0C-9EA087CE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952625" cy="11049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按环境分类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城市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特殊反射环境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山地 / 峡谷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高速 / 开阔环境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7646689-EC47-4E5A-B9C4-605585A1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952625" cy="723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 + 卫星仰角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低仰角 · 中仰角 · 高仰角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3F7D5E-0B23-4F1E-BE1F-1D66A68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三个核心参数的拟合结果</a:t>
            </a:r>
            <a:endParaRPr sz="16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4" name="表格 26" hidden="1"/>
          <p:cNvGraphicFramePr/>
          <p:nvPr/>
        </p:nvGraphicFramePr>
        <p:xfrm>
          <a:off xmlns:a="http://schemas.openxmlformats.org/drawingml/2006/main" x="3905250" y="2114550"/>
          <a:ext xmlns:a="http://schemas.openxmlformats.org/drawingml/2006/main" cx="3429000" cy="2362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1714500"/>
              </a:tblGrid>
              <a:tr h="590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2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32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200">
                        <a:solidFill>
                          <a:srgbClr val="132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32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200">
                        <a:solidFill>
                          <a:srgbClr val="132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32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200">
                        <a:solidFill>
                          <a:srgbClr val="132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32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200">
                        <a:solidFill>
                          <a:srgbClr val="132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132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200">
                        <a:solidFill>
                          <a:srgbClr val="132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32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200">
                        <a:solidFill>
                          <a:srgbClr val="132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F5E8A9E-45F6-4CBD-A08E-D580AD6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524250" cy="29527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809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三个参数不是完全独立的</a:t>
            </a:r>
          </a:p>
          <a:p xmlns:a="http://schemas.openxmlformats.org/drawingml/2006/main">
            <a:r>
              <a:rPr sz="600">
                <a:solidFill>
                  <a:srgbClr val="075E69"/>
                </a:solidFill>
              </a:rPr>
              <a:t/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分别描述时延、多普勒和功率，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还要考虑它们之间的关联。</a:t>
            </a:r>
          </a:p>
          <a:p xmlns:a="http://schemas.openxmlformats.org/drawingml/2006/main">
            <a:r>
              <a:rPr sz="600">
                <a:solidFill>
                  <a:srgbClr val="075E69"/>
                </a:solidFill>
              </a:rPr>
              <a:t/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例如：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时延更大的多径，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功率是否往往更弱？</a:t>
            </a:r>
          </a:p>
          <a:p xmlns:a="http://schemas.openxmlformats.org/drawingml/2006/main">
            <a:r>
              <a:rPr sz="600">
                <a:solidFill>
                  <a:srgbClr val="075E69"/>
                </a:solidFill>
              </a:rPr>
              <a:t/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采用高斯 Copula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描述时延、多普勒、功率之间的联合关系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D050FB95-022B-434C-946F-04848980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76925"/>
            <a:ext cx="8667750" cy="4381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rPr>
              <a:t>数据充足：用本组数据；数据较少：参考上一级规律；无直接数据：不人为补数据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1125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rPr>
              <a:t>不为了让模型看起来完整而人为补数据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F6165C0E-7C7A-4B71-BB0F-F6090FE4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2160855-F884-4AB9-8617-B44DDEFC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3489CB5-C5B9-4E1A-99D2-7D84983A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05 / 08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lide-5-layer-note-fit">
            <a:extLst xmlns:a="http://schemas.openxmlformats.org/drawingml/2006/main">
              <a:ext uri="{FF2B5EF4-FFF2-40B4-BE49-F238E27FC236}">
                <a16:creationId xmlns:a16="http://schemas.microsoft.com/office/drawing/2014/main" id="{8253D0B7-5F2F-4215-9F1E-BAE9B58D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数据充分用本组数据，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数据较少参考上一级规律。</a:t>
            </a:r>
          </a:p>
        </p:txBody>
      </p:sp>
      <p:pic>
        <p:nvPicPr>
          <p:cNvPr id="41" name="slide-5-delay-fit-pl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94672dbd74c14"/>
          <a:stretch xmlns:a="http://schemas.openxmlformats.org/drawingml/2006/main"/>
        </p:blipFill>
        <p:spPr>
          <a:xfrm xmlns:a="http://schemas.openxmlformats.org/drawingml/2006/main">
            <a:off x="2952750" y="2055019"/>
            <a:ext cx="4762500" cy="1071563"/>
          </a:xfrm>
          <a:prstGeom xmlns:a="http://schemas.openxmlformats.org/drawingml/2006/main" prst="roundRect">
            <a:avLst>
              <a:gd name="adj" fmla="val 6557"/>
            </a:avLst>
          </a:prstGeom>
        </p:spPr>
      </p:pic>
      <p:pic>
        <p:nvPicPr>
          <p:cNvPr id="42" name="slide-5-doppler-fit-pl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76245db14407b"/>
          <a:stretch xmlns:a="http://schemas.openxmlformats.org/drawingml/2006/main"/>
        </p:blipFill>
        <p:spPr>
          <a:xfrm xmlns:a="http://schemas.openxmlformats.org/drawingml/2006/main">
            <a:off x="2952750" y="3350419"/>
            <a:ext cx="4762500" cy="1071563"/>
          </a:xfrm>
          <a:prstGeom xmlns:a="http://schemas.openxmlformats.org/drawingml/2006/main" prst="roundRect">
            <a:avLst>
              <a:gd name="adj" fmla="val 6557"/>
            </a:avLst>
          </a:prstGeom>
        </p:spPr>
      </p:pic>
      <p:pic>
        <p:nvPicPr>
          <p:cNvPr id="43" name="slide-5-power-fit-pl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ec3d5957747ce"/>
          <a:stretch xmlns:a="http://schemas.openxmlformats.org/drawingml/2006/main"/>
        </p:blipFill>
        <p:spPr>
          <a:xfrm xmlns:a="http://schemas.openxmlformats.org/drawingml/2006/main">
            <a:off x="2952750" y="4645819"/>
            <a:ext cx="4762500" cy="1071563"/>
          </a:xfrm>
          <a:prstGeom xmlns:a="http://schemas.openxmlformats.org/drawingml/2006/main" prst="roundRect">
            <a:avLst>
              <a:gd name="adj" fmla="val 6557"/>
            </a:avLst>
          </a:prstGeom>
        </p:spPr>
      </p:pic>
    </p:spTree>
    <p:extLst>
      <p:ext uri="{BB962C8B-B14F-4D97-AF65-F5344CB8AC3E}">
        <p14:creationId xmlns:p14="http://schemas.microsoft.com/office/powerpoint/2010/main" val="1343981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0ABA1A8-B4B8-4F7B-8F54-0D83421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rPr>
              <a:t>06 · 联合模型结果</a:t>
            </a:r>
            <a:endParaRPr sz="1125" b="1">
              <a:solidFill>
                <a:srgbClr val="0D80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A4858E2-E544-493F-B164-1C5E751F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联合模型结果：时延越大，功率通常越弱</a:t>
            </a:r>
            <a:endParaRPr sz="28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F6F143A1-605A-4BF3-814A-62FE6CFB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8090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82D939C-7DAC-4875-9431-AC1F9B8D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三个参数一起变化</a:t>
            </a:r>
            <a:endParaRPr sz="16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3F7D5E-0B23-4F1E-BE1F-1D66A68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实测时延–功率关系</a:t>
            </a:r>
            <a:endParaRPr sz="16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F5E8A9E-45F6-4CBD-A08E-D580AD6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524250" cy="29527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809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D050FB95-022B-434C-946F-04848980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76925"/>
            <a:ext cx="8667750" cy="4381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125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rPr>
              <a:t>当前最稳定的联合关系：时延与功率明显负相关；多普勒与另外两个参数的相关性较弱。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F6165C0E-7C7A-4B71-BB0F-F6090FE4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2160855-F884-4AB9-8617-B44DDEFC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3489CB5-C5B9-4E1A-99D2-7D84983A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lide-5-layer-note-fit">
            <a:extLst xmlns:a="http://schemas.openxmlformats.org/drawingml/2006/main">
              <a:ext uri="{FF2B5EF4-FFF2-40B4-BE49-F238E27FC236}">
                <a16:creationId xmlns:a16="http://schemas.microsoft.com/office/drawing/2014/main" id="{8253D0B7-5F2F-4215-9F1E-BAE9B58D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r2 / r3 统计关联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不代表物理因果</a:t>
            </a:r>
          </a:p>
        </p:txBody>
      </p:sp>
      <p:pic>
        <p:nvPicPr>
          <p:cNvPr id="49" name="slide-5-delay-fit-pl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c5d3bf6a34040"/>
          <a:stretch xmlns:a="http://schemas.openxmlformats.org/drawingml/2006/main"/>
        </p:blipFill>
        <p:spPr>
          <a:xfrm xmlns:a="http://schemas.openxmlformats.org/drawingml/2006/main">
            <a:off x="3114578" y="3524250"/>
            <a:ext cx="4248344" cy="2238375"/>
          </a:xfrm>
          <a:prstGeom xmlns:a="http://schemas.openxmlformats.org/drawingml/2006/main" prst="roundRect">
            <a:avLst>
              <a:gd name="adj" fmla="val 6557"/>
            </a:avLst>
          </a:prstGeom>
        </p:spPr>
      </p:pic>
      <p:sp>
        <p:nvSpPr>
          <p:cNvPr id="22" name="joint-card-marginal-heading">
            <a:extLst xmlns:a="http://schemas.openxmlformats.org/drawingml/2006/main">
              <a:ext uri="{FF2B5EF4-FFF2-40B4-BE49-F238E27FC236}">
                <a16:creationId xmlns:a16="http://schemas.microsoft.com/office/drawing/2014/main" id="{1C59D45B-A396-477E-92E4-0974A800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单参数分布：</a:t>
            </a:r>
          </a:p>
        </p:txBody>
      </p:sp>
      <p:sp>
        <p:nvSpPr>
          <p:cNvPr id="23" name="joint-card-marginal-body">
            <a:extLst xmlns:a="http://schemas.openxmlformats.org/drawingml/2006/main">
              <a:ext uri="{FF2B5EF4-FFF2-40B4-BE49-F238E27FC236}">
                <a16:creationId xmlns:a16="http://schemas.microsoft.com/office/drawing/2014/main" id="{27F29650-6824-403B-9EBB-54CF6FE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说明每个参数自己长什么样</a:t>
            </a:r>
          </a:p>
        </p:txBody>
      </p:sp>
      <p:sp>
        <p:nvSpPr>
          <p:cNvPr id="24" name="joint-card-joint-heading">
            <a:extLst xmlns:a="http://schemas.openxmlformats.org/drawingml/2006/main">
              <a:ext uri="{FF2B5EF4-FFF2-40B4-BE49-F238E27FC236}">
                <a16:creationId xmlns:a16="http://schemas.microsoft.com/office/drawing/2014/main" id="{9742000C-DE1E-4689-BD5D-28185090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联合模型：</a:t>
            </a:r>
          </a:p>
        </p:txBody>
      </p:sp>
      <p:sp>
        <p:nvSpPr>
          <p:cNvPr id="25" name="joint-card-joint-body">
            <a:extLst xmlns:a="http://schemas.openxmlformats.org/drawingml/2006/main">
              <a:ext uri="{FF2B5EF4-FFF2-40B4-BE49-F238E27FC236}">
                <a16:creationId xmlns:a16="http://schemas.microsoft.com/office/drawing/2014/main" id="{89882EBE-21CE-4983-A0B0-507653C9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说明这些参数如何一起出现</a:t>
            </a:r>
          </a:p>
        </p:txBody>
      </p:sp>
      <p:sp>
        <p:nvSpPr>
          <p:cNvPr id="26" name="joint-card-copula-heading">
            <a:extLst xmlns:a="http://schemas.openxmlformats.org/drawingml/2006/main">
              <a:ext uri="{FF2B5EF4-FFF2-40B4-BE49-F238E27FC236}">
                <a16:creationId xmlns:a16="http://schemas.microsoft.com/office/drawing/2014/main" id="{F376F869-EDEA-43F4-A93B-CEED2DEF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高斯 Copula：</a:t>
            </a:r>
          </a:p>
        </p:txBody>
      </p:sp>
      <p:sp>
        <p:nvSpPr>
          <p:cNvPr id="27" name="joint-card-copula-body">
            <a:extLst xmlns:a="http://schemas.openxmlformats.org/drawingml/2006/main">
              <a:ext uri="{FF2B5EF4-FFF2-40B4-BE49-F238E27FC236}">
                <a16:creationId xmlns:a16="http://schemas.microsoft.com/office/drawing/2014/main" id="{883865F5-6E4A-47C7-9FDF-B87B125E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用于保留时延、多普勒、功率</a:t>
            </a:r>
          </a:p>
          <a:p xmlns:a="http://schemas.openxmlformats.org/drawingml/2006/main">
            <a:pPr algn="l">
              <a:defRPr sz="1125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之间的相关关系</a:t>
            </a:r>
          </a:p>
        </p:txBody>
      </p:sp>
      <p:sp>
        <p:nvSpPr>
          <p:cNvPr id="28" name="joint-connector-delay-doppler">
            <a:extLst xmlns:a="http://schemas.openxmlformats.org/drawingml/2006/main">
              <a:ext uri="{FF2B5EF4-FFF2-40B4-BE49-F238E27FC236}">
                <a16:creationId xmlns:a16="http://schemas.microsoft.com/office/drawing/2014/main" id="{615145CB-81EC-4A8B-A1B4-8F4B96AE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908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B78"/>
            </a:solidFill>
            <a:prstDash val="solid"/>
          </a:ln>
        </p:spPr>
      </p:sp>
      <p:sp>
        <p:nvSpPr>
          <p:cNvPr id="29" name="joint-connector-doppler-power">
            <a:extLst xmlns:a="http://schemas.openxmlformats.org/drawingml/2006/main">
              <a:ext uri="{FF2B5EF4-FFF2-40B4-BE49-F238E27FC236}">
                <a16:creationId xmlns:a16="http://schemas.microsoft.com/office/drawing/2014/main" id="{2DD17F4E-2821-4644-B3AA-3AB76A67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B78"/>
            </a:solidFill>
            <a:prstDash val="solid"/>
          </a:ln>
        </p:spPr>
      </p:sp>
      <p:sp>
        <p:nvSpPr>
          <p:cNvPr id="30" name="joint-connector-delay-power">
            <a:extLst xmlns:a="http://schemas.openxmlformats.org/drawingml/2006/main">
              <a:ext uri="{FF2B5EF4-FFF2-40B4-BE49-F238E27FC236}">
                <a16:creationId xmlns:a16="http://schemas.microsoft.com/office/drawing/2014/main" id="{DBBBAA58-689C-4F06-8C7C-0440F6ED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95600"/>
            <a:ext cx="51435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07A3F"/>
            </a:solidFill>
            <a:prstDash val="solid"/>
          </a:ln>
        </p:spPr>
      </p:sp>
      <p:sp>
        <p:nvSpPr>
          <p:cNvPr id="31" name="joint-node-delay">
            <a:extLst xmlns:a="http://schemas.openxmlformats.org/drawingml/2006/main">
              <a:ext uri="{FF2B5EF4-FFF2-40B4-BE49-F238E27FC236}">
                <a16:creationId xmlns:a16="http://schemas.microsoft.com/office/drawing/2014/main" id="{EBDA6CD4-E18A-4F1E-9260-FF3099D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8090"/>
          </a:solidFill>
          <a:ln xmlns:a="http://schemas.openxmlformats.org/drawingml/2006/main" w="0">
            <a:solidFill>
              <a:srgbClr val="0D809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多径时延</a:t>
            </a:r>
          </a:p>
        </p:txBody>
      </p:sp>
      <p:sp>
        <p:nvSpPr>
          <p:cNvPr id="32" name="joint-node-doppler">
            <a:extLst xmlns:a="http://schemas.openxmlformats.org/drawingml/2006/main">
              <a:ext uri="{FF2B5EF4-FFF2-40B4-BE49-F238E27FC236}">
                <a16:creationId xmlns:a16="http://schemas.microsoft.com/office/drawing/2014/main" id="{6001245F-839A-491F-A8EA-DC90E375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86000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86A9B"/>
          </a:solidFill>
          <a:ln xmlns:a="http://schemas.openxmlformats.org/drawingml/2006/main" w="0">
            <a:solidFill>
              <a:srgbClr val="386A9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相对多普勒</a:t>
            </a:r>
          </a:p>
        </p:txBody>
      </p:sp>
      <p:sp>
        <p:nvSpPr>
          <p:cNvPr id="33" name="joint-node-power">
            <a:extLst xmlns:a="http://schemas.openxmlformats.org/drawingml/2006/main">
              <a:ext uri="{FF2B5EF4-FFF2-40B4-BE49-F238E27FC236}">
                <a16:creationId xmlns:a16="http://schemas.microsoft.com/office/drawing/2014/main" id="{BD3C489C-B0DD-48CE-A80C-0D0619F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1714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相对功率</a:t>
            </a:r>
          </a:p>
        </p:txBody>
      </p:sp>
      <p:sp>
        <p:nvSpPr>
          <p:cNvPr id="34" name="joint-label-delay-doppler">
            <a:extLst xmlns:a="http://schemas.openxmlformats.org/drawingml/2006/main">
              <a:ext uri="{FF2B5EF4-FFF2-40B4-BE49-F238E27FC236}">
                <a16:creationId xmlns:a16="http://schemas.microsoft.com/office/drawing/2014/main" id="{9A731DED-549E-4003-8D81-E4C6631E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240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相关很弱</a:t>
            </a:r>
          </a:p>
        </p:txBody>
      </p:sp>
      <p:sp>
        <p:nvSpPr>
          <p:cNvPr id="35" name="joint-label-doppler-power">
            <a:extLst xmlns:a="http://schemas.openxmlformats.org/drawingml/2006/main">
              <a:ext uri="{FF2B5EF4-FFF2-40B4-BE49-F238E27FC236}">
                <a16:creationId xmlns:a16="http://schemas.microsoft.com/office/drawing/2014/main" id="{F853BDC3-498A-4709-970C-2E915D83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240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相关很弱</a:t>
            </a:r>
          </a:p>
        </p:txBody>
      </p:sp>
      <p:sp>
        <p:nvSpPr>
          <p:cNvPr id="36" name="joint-label-delay-power">
            <a:extLst xmlns:a="http://schemas.openxmlformats.org/drawingml/2006/main">
              <a:ext uri="{FF2B5EF4-FFF2-40B4-BE49-F238E27FC236}">
                <a16:creationId xmlns:a16="http://schemas.microsoft.com/office/drawing/2014/main" id="{0EB710F0-690D-40A6-A74F-947F836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强负相关  −0.56 ～ −0.64</a:t>
            </a:r>
          </a:p>
        </p:txBody>
      </p:sp>
      <p:sp>
        <p:nvSpPr>
          <p:cNvPr id="37" name="joint-footer-06">
            <a:extLst xmlns:a="http://schemas.openxmlformats.org/drawingml/2006/main">
              <a:ext uri="{FF2B5EF4-FFF2-40B4-BE49-F238E27FC236}">
                <a16:creationId xmlns:a16="http://schemas.microsoft.com/office/drawing/2014/main" id="{4D9F651D-CE59-45D5-BFDA-B45407E5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343981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7D2261E8-F3E5-476F-A1D1-3A9E67FD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D8090"/>
                </a:solidFill>
                <a:latin typeface="微软雅黑"/>
                <a:ea typeface="微软雅黑"/>
                <a:cs typeface="微软雅黑"/>
              </a:rPr>
              <a:t>06 · 结果与边界</a:t>
            </a:r>
            <a:endParaRPr sz="1125" b="1">
              <a:solidFill>
                <a:srgbClr val="0D809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8421BBF-6261-47DF-AC70-E297400F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已有结果可以支持建模，但结论要有边界</a:t>
            </a:r>
            <a:endParaRPr sz="28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9F6FFBC5-328D-4F2A-B5BD-3AB8F418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8090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14C2488-4F5D-43C6-BCA5-9DF953CF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数据覆盖情况</a:t>
            </a:r>
            <a:endParaRPr sz="16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C6FFFAB-E3E4-45A7-8EB6-D5773E8D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19050" tIns="0" rIns="19050" bIns="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64628C-1A1C-43D6-B04E-C0979856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低仰角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97CC0-1F59-44F9-8324-E950D9D3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中仰角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831DD5D-F90B-4840-AAF4-4F8B2B7F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高仰角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337AD-573F-4D74-A3EB-98DD2A5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城市环境</a:t>
            </a:r>
            <a:endParaRPr sz="120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924B6E7-8553-412F-90E4-B5E2C88A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数据充分</a:t>
            </a:r>
            <a:endParaRPr sz="1200" b="1">
              <a:solidFill>
                <a:srgbClr val="2F85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6395D9B-F932-434D-A643-EB2DC422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数据充分</a:t>
            </a:r>
            <a:endParaRPr sz="1200" b="1">
              <a:solidFill>
                <a:srgbClr val="2F85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9870BF9-354A-49AA-8B7F-DFFF0708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622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数据充分</a:t>
            </a:r>
            <a:endParaRPr sz="1200" b="1">
              <a:solidFill>
                <a:srgbClr val="2F85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7B4FF7B-DE11-44B6-B004-AC7A625B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特殊反射环境</a:t>
            </a:r>
            <a:endParaRPr sz="120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F40A7A-CB8C-4051-A8CB-05058644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rPr>
              <a:t>数据较少</a:t>
            </a:r>
            <a:endParaRPr sz="1200" b="1">
              <a:solidFill>
                <a:srgbClr val="C58A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02C1361-E727-450B-9B19-EA689EB0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rPr>
              <a:t>数据较少</a:t>
            </a:r>
            <a:endParaRPr sz="1200" b="1">
              <a:solidFill>
                <a:srgbClr val="C58A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626A966-21EA-4100-877C-B202F490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rPr>
              <a:t>数据较少</a:t>
            </a:r>
            <a:endParaRPr sz="1200" b="1">
              <a:solidFill>
                <a:srgbClr val="C58A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74233F5-7DA4-4007-98EE-4205BDDE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山地 / 峡谷</a:t>
            </a:r>
            <a:endParaRPr sz="120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5A814B7-FFB5-4A52-AAC1-2FE0115A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909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数据充分</a:t>
            </a:r>
            <a:endParaRPr sz="1200" b="1">
              <a:solidFill>
                <a:srgbClr val="2F85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F554E69-C7E9-4C20-9C90-1DFB8C9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数据充分</a:t>
            </a:r>
            <a:endParaRPr sz="1200" b="1">
              <a:solidFill>
                <a:srgbClr val="2F855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966F8F-6FFD-4185-813C-890F5A51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909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58A12"/>
                </a:solidFill>
                <a:latin typeface="Microsoft YaHei"/>
                <a:ea typeface="Microsoft YaHei"/>
                <a:cs typeface="Microsoft YaHei"/>
              </a:rPr>
              <a:t>数据较少</a:t>
            </a:r>
            <a:endParaRPr sz="1200" b="1">
              <a:solidFill>
                <a:srgbClr val="C58A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5221766-4A90-4653-8D44-3C8900BC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高速 / 开阔环境</a:t>
            </a:r>
            <a:endParaRPr sz="120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C7012D4-3B45-4D8B-A846-4A9540FF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053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无直接数据</a:t>
            </a:r>
            <a:endParaRPr sz="1200" b="1">
              <a:solidFill>
                <a:srgbClr val="B64B4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6800256-D22B-4B08-804B-7D95C89F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053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主要参考</a:t>
            </a:r>
            <a:endParaRPr sz="1200" b="1">
              <a:solidFill>
                <a:srgbClr val="E07A3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上一级模型</a:t>
            </a:r>
            <a:endParaRPr sz="1200" b="1">
              <a:solidFill>
                <a:srgbClr val="E07A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CB61BBC-85F7-4187-BD6E-86CDBE46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0530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主要参考</a:t>
            </a:r>
            <a:endParaRPr sz="1200" b="1">
              <a:solidFill>
                <a:srgbClr val="E07A3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上一级模型</a:t>
            </a:r>
            <a:endParaRPr sz="1200" b="1">
              <a:solidFill>
                <a:srgbClr val="E07A3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DBF7F76-9427-4168-9E6A-D757E08E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11 / 12 个组合有 Stage3 直接观测；</a:t>
            </a:r>
            <a:endParaRPr sz="1500" b="1">
              <a:solidFill>
                <a:srgbClr val="B64B4B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64B4B"/>
                </a:solidFill>
                <a:latin typeface="Microsoft YaHei"/>
                <a:ea typeface="Microsoft YaHei"/>
                <a:cs typeface="Microsoft YaHei"/>
              </a:rPr>
              <a:t>高速 / 开阔环境低仰角无直接数据，不做假填充。</a:t>
            </a:r>
            <a:endParaRPr sz="1500" b="1">
              <a:solidFill>
                <a:srgbClr val="B64B4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82164D4-D097-49EB-A4BC-1FCB6C67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为什么结果可信</a:t>
            </a:r>
            <a:endParaRPr sz="165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EB0D7CE5-A0DD-42A2-B228-6A045746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3619500" cy="5905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3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环境影响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目前还不足以证明普适环境主效应。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4D3F55A5-8613-4534-9CD6-2255011C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3619500" cy="5905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BE8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仰角影响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目前还不足以证明统一单调规律。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ED6F85F4-76FF-4F6B-AF0D-364E5BED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09950"/>
            <a:ext cx="3619500" cy="742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环境 × 仰角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部分组合表现出差异，存在一定交互证据。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936E4D1C-432F-4D39-A947-09A43CE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3619500" cy="9525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6EE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模型边界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不能可靠识别 Ricean K；持续观测只表示算法连续观测，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不等于真实反射体寿命。</a:t>
            </a: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76689E9D-5BDC-445E-9257-F62A2CF0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14950"/>
            <a:ext cx="3619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有数据支持到哪里，就解释到哪里。</a:t>
            </a:r>
          </a:p>
        </p:txBody>
      </p:sp>
      <p:sp>
        <p:nvSpPr>
          <p:cNvPr id="38" name="直接连接符 37">
            <a:extLst xmlns:a="http://schemas.openxmlformats.org/drawingml/2006/main">
              <a:ext uri="{FF2B5EF4-FFF2-40B4-BE49-F238E27FC236}">
                <a16:creationId xmlns:a16="http://schemas.microsoft.com/office/drawing/2014/main" id="{9837302A-7EBF-45D6-BA39-92BEEC81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2C12598-EFAC-46E4-9192-52693402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GNSS 多径信道建模 · Phase 1 学术主线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E86249A-24F7-47A1-84E9-7D7F0F2B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5D6B78"/>
                </a:solidFill>
                <a:latin typeface="微软雅黑"/>
                <a:ea typeface="微软雅黑"/>
                <a:cs typeface="微软雅黑"/>
              </a:rPr>
              <a:t>07 / 08</a:t>
            </a:r>
            <a:endParaRPr sz="1050">
              <a:solidFill>
                <a:srgbClr val="5D6B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slide-6-flow-arrow-1">
            <a:extLst xmlns:a="http://schemas.openxmlformats.org/drawingml/2006/main">
              <a:ext uri="{FF2B5EF4-FFF2-40B4-BE49-F238E27FC236}">
                <a16:creationId xmlns:a16="http://schemas.microsoft.com/office/drawing/2014/main" id="{61B096F4-8BFB-46E8-8E09-1CC7253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34125" y="250507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lide-6-flow-arrow-2">
            <a:extLst xmlns:a="http://schemas.openxmlformats.org/drawingml/2006/main">
              <a:ext uri="{FF2B5EF4-FFF2-40B4-BE49-F238E27FC236}">
                <a16:creationId xmlns:a16="http://schemas.microsoft.com/office/drawing/2014/main" id="{14E2DBBF-F51E-4E14-98C9-953EC7F5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34125" y="315277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lide-6-flow-arrow-3">
            <a:extLst xmlns:a="http://schemas.openxmlformats.org/drawingml/2006/main">
              <a:ext uri="{FF2B5EF4-FFF2-40B4-BE49-F238E27FC236}">
                <a16:creationId xmlns:a16="http://schemas.microsoft.com/office/drawing/2014/main" id="{BC266F0E-9DB4-4135-B448-0FAFD19C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34125" y="380047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lide-6-flow-box-1">
            <a:extLst xmlns:a="http://schemas.openxmlformats.org/drawingml/2006/main">
              <a:ext uri="{FF2B5EF4-FFF2-40B4-BE49-F238E27FC236}">
                <a16:creationId xmlns:a16="http://schemas.microsoft.com/office/drawing/2014/main" id="{26C401DA-D16B-4165-8113-A5B740C9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57400"/>
            <a:ext cx="2286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3F4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加权观测</a:t>
            </a:r>
          </a:p>
        </p:txBody>
      </p:sp>
      <p:sp>
        <p:nvSpPr>
          <p:cNvPr id="46" name="slide-6-flow-box-2">
            <a:extLst xmlns:a="http://schemas.openxmlformats.org/drawingml/2006/main">
              <a:ext uri="{FF2B5EF4-FFF2-40B4-BE49-F238E27FC236}">
                <a16:creationId xmlns:a16="http://schemas.microsoft.com/office/drawing/2014/main" id="{F53D1407-BC6D-4B1F-B28B-71A07945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2286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DE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场景级 bootstrap</a:t>
            </a:r>
          </a:p>
        </p:txBody>
      </p:sp>
      <p:sp>
        <p:nvSpPr>
          <p:cNvPr id="47" name="slide-6-flow-box-3">
            <a:extLst xmlns:a="http://schemas.openxmlformats.org/drawingml/2006/main">
              <a:ext uri="{FF2B5EF4-FFF2-40B4-BE49-F238E27FC236}">
                <a16:creationId xmlns:a16="http://schemas.microsoft.com/office/drawing/2014/main" id="{084DE978-AC80-48C2-9803-3EB7C9F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2286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3E6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run 级敏感性</a:t>
            </a:r>
          </a:p>
        </p:txBody>
      </p:sp>
      <p:sp>
        <p:nvSpPr>
          <p:cNvPr id="48" name="slide-6-flow-box-4">
            <a:extLst xmlns:a="http://schemas.openxmlformats.org/drawingml/2006/main">
              <a:ext uri="{FF2B5EF4-FFF2-40B4-BE49-F238E27FC236}">
                <a16:creationId xmlns:a16="http://schemas.microsoft.com/office/drawing/2014/main" id="{11B10D6E-5499-4F67-B26B-CF414E89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2286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EEF4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200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2333"/>
                </a:solidFill>
                <a:latin typeface="Microsoft YaHei"/>
                <a:ea typeface="Microsoft YaHei"/>
                <a:cs typeface="Microsoft YaHei"/>
              </a:rPr>
              <a:t>留一场景验证</a:t>
            </a:r>
          </a:p>
        </p:txBody>
      </p:sp>
      <p:sp>
        <p:nvSpPr>
          <p:cNvPr id="49" name="slide-6-robustness-note">
            <a:extLst xmlns:a="http://schemas.openxmlformats.org/drawingml/2006/main">
              <a:ext uri="{FF2B5EF4-FFF2-40B4-BE49-F238E27FC236}">
                <a16:creationId xmlns:a16="http://schemas.microsoft.com/office/drawing/2014/main" id="{E4F5B08B-2C36-4409-B08F-372AC1A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29150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不是把 783 条观测当成完全独立样本，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而是按场景和 run 检查结论是否稳定。</a:t>
            </a:r>
          </a:p>
        </p:txBody>
      </p:sp>
    </p:spTree>
    <p:extLst>
      <p:ext uri="{BB962C8B-B14F-4D97-AF65-F5344CB8AC3E}">
        <p14:creationId xmlns:p14="http://schemas.microsoft.com/office/powerpoint/2010/main" val="864566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64E3013-DB7C-426C-A93D-2E2800D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2182E957-C98A-407C-94F7-8AD14D4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项目贡献与面试总结</a:t>
            </a:r>
            <a:endParaRPr sz="31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F2A6E0E9-2BC1-4346-8FC5-6EAD4F2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63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677D"/>
            </a:solidFill>
            <a:prstDash val="solid"/>
          </a:ln>
        </p:spPr>
      </p:sp>
      <p:sp>
        <p:nvSpPr>
          <p:cNvPr id="4" name="椭圆 3">
            <a:extLst xmlns:a="http://schemas.openxmlformats.org/drawingml/2006/main">
              <a:ext uri="{FF2B5EF4-FFF2-40B4-BE49-F238E27FC236}">
                <a16:creationId xmlns:a16="http://schemas.microsoft.com/office/drawing/2014/main" id="{1F1740ED-DACD-457C-BD12-E27DEC2A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D8EEED2-BEAC-4DDE-A0BC-42EEF151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 GNSS raw IQ 数据链路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E8DC6E0-091A-4D72-87EF-8D3F3DB4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1930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8D9E5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C8D9E5"/>
                </a:solidFill>
                <a:latin typeface="微软雅黑"/>
                <a:ea typeface="微软雅黑"/>
                <a:cs typeface="微软雅黑"/>
              </a:rPr>
              <a:t>车辆动态采集 → GNSS-SDR → NAV-aided SAGE</a:t>
            </a:r>
            <a:endParaRPr sz="1275">
              <a:solidFill>
                <a:srgbClr val="C8D9E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1F4A7A1A-4F0B-4BF7-81DA-82A8B22D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51FA90-DBA2-41E5-85C8-09716CE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33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可靠的多径参数提取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3577AE4-9AE2-4309-8FA2-0CE3E53F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5750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8D9E5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C8D9E5"/>
                </a:solidFill>
                <a:latin typeface="微软雅黑"/>
                <a:ea typeface="微软雅黑"/>
                <a:cs typeface="微软雅黑"/>
              </a:rPr>
              <a:t>Stage0–Stage3 逐层筛选，保留 delay / Doppler / power</a:t>
            </a:r>
            <a:endParaRPr sz="1275">
              <a:solidFill>
                <a:srgbClr val="C8D9E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B974C65C-165E-4552-9D82-3843A005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E8F5187-7760-4B73-BC92-3246542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可复用的统计 baseline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470DF21-6E7C-4B77-ACBC-BF3ADA25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C8D9E5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C8D9E5"/>
                </a:solidFill>
                <a:latin typeface="微软雅黑"/>
                <a:ea typeface="微软雅黑"/>
                <a:cs typeface="微软雅黑"/>
              </a:rPr>
              <a:t>依赖修正的 Environment × Elevation 联合统计模型</a:t>
            </a:r>
            <a:endParaRPr sz="1275">
              <a:solidFill>
                <a:srgbClr val="C8D9E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6FC5C3B4-029B-46EE-B80F-FBEF6FED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3714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当前定位</a:t>
            </a:r>
            <a:endParaRPr sz="180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Phase 1：VALID ACADEMIC BASELINE</a:t>
            </a:r>
            <a:endParaRPr sz="180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800"/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1F33"/>
                </a:solidFill>
                <a:latin typeface="微软雅黑"/>
                <a:ea typeface="微软雅黑"/>
                <a:cs typeface="微软雅黑"/>
              </a:rPr>
              <a:t>Phase 2 AI：planned-only / not authorized</a:t>
            </a:r>
            <a:endParaRPr sz="1800" b="1">
              <a:solidFill>
                <a:srgbClr val="0B1F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BC724B0-D944-4A2D-B209-45E99062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>
                <a:solidFill>
                  <a:srgbClr val="C8D9E5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C8D9E5"/>
                </a:solidFill>
                <a:latin typeface="微软雅黑"/>
                <a:ea typeface="微软雅黑"/>
                <a:cs typeface="微软雅黑"/>
              </a:rPr>
              <a:t>可支撑：期刊传统建模结果 · 硕士论文核心章节</a:t>
            </a:r>
            <a:endParaRPr sz="1500">
              <a:solidFill>
                <a:srgbClr val="C8D9E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>
                <a:solidFill>
                  <a:srgbClr val="C8D9E5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C8D9E5"/>
                </a:solidFill>
                <a:latin typeface="微软雅黑"/>
                <a:ea typeface="微软雅黑"/>
                <a:cs typeface="微软雅黑"/>
              </a:rPr>
              <a:t>可作为：后续 AI 条件生成模型的 benchmark</a:t>
            </a:r>
            <a:endParaRPr sz="1500">
              <a:solidFill>
                <a:srgbClr val="C8D9E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2D5C42BA-93CF-4E4B-90AD-AA015E51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809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11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本项目完成了从真实 GNSS raw IQ 到 Stage3 多径参数提取，再到依赖修正的 Environment×Elevation 统计建模的完整 Phase‑1 闭环。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DF9FD0C-C407-4562-AD97-9B6F4C78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515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BBD0D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BBD0DE"/>
                </a:solidFill>
                <a:latin typeface="微软雅黑"/>
                <a:ea typeface="微软雅黑"/>
                <a:cs typeface="微软雅黑"/>
              </a:rPr>
              <a:t>08 / 08</a:t>
            </a:r>
            <a:endParaRPr sz="1125">
              <a:solidFill>
                <a:srgbClr val="BBD0DE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41898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2026-08-31T08:04:49.0090000Z</dcterms:created>
  <dcterms:modified xsi:type="dcterms:W3CDTF">2026-08-31T08:04:49.0090000Z</dcterms:modified>
</coreProperties>
</file>