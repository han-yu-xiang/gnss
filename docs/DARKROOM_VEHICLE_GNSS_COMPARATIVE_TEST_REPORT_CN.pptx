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bfb4b45ff941c3" /><Relationship Type="http://schemas.openxmlformats.org/officeDocument/2006/relationships/extended-properties" Target="/docProps/app.xml" Id="R8af7598a348949b7" /><Relationship Type="http://schemas.openxmlformats.org/officeDocument/2006/relationships/officeDocument" Target="/ppt/presentation.xml" Id="Rf1b29dc3320d4d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d51c88364e47cf"/>
  </p:sldMasterIdLst>
  <p:notesMasterIdLst>
    <p:notesMasterId xmlns:r="http://schemas.openxmlformats.org/officeDocument/2006/relationships" r:id="R878f112a5a184765"/>
  </p:notesMasterIdLst>
  <p:sldIdLst>
    <p:sldId xmlns:r="http://schemas.openxmlformats.org/officeDocument/2006/relationships" id="256" r:id="R7ce1c92dc974410a"/>
    <p:sldId xmlns:r="http://schemas.openxmlformats.org/officeDocument/2006/relationships" id="257" r:id="R0f182b95a7ac4bcc"/>
    <p:sldId xmlns:r="http://schemas.openxmlformats.org/officeDocument/2006/relationships" id="258" r:id="R3e1056a7a3344e33"/>
    <p:sldId xmlns:r="http://schemas.openxmlformats.org/officeDocument/2006/relationships" id="259" r:id="R5d81d539890e4b6b"/>
    <p:sldId xmlns:r="http://schemas.openxmlformats.org/officeDocument/2006/relationships" id="260" r:id="R6abdba7db4e44f4d"/>
    <p:sldId xmlns:r="http://schemas.openxmlformats.org/officeDocument/2006/relationships" id="261" r:id="R0f3106589ec9485f"/>
    <p:sldId xmlns:r="http://schemas.openxmlformats.org/officeDocument/2006/relationships" id="262" r:id="Ra2fe855beb954f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7e147f69dd441f" /><Relationship Type="http://schemas.openxmlformats.org/officeDocument/2006/relationships/slideMaster" Target="/ppt/slideMasters/slideMaster1.xml" Id="Rcdd51c88364e47cf" /><Relationship Type="http://schemas.openxmlformats.org/officeDocument/2006/relationships/notesMaster" Target="/ppt/notesMasters/notesMaster1.xml" Id="R878f112a5a184765" /><Relationship Type="http://schemas.openxmlformats.org/officeDocument/2006/relationships/presProps" Target="/ppt/presProps.xml" Id="R56a242103e394c3a" /><Relationship Type="http://schemas.openxmlformats.org/officeDocument/2006/relationships/tableStyles" Target="/ppt/tableStyles.xml" Id="Rffbac624a2ef40e2" /><Relationship Type="http://schemas.openxmlformats.org/officeDocument/2006/relationships/slide" Target="/ppt/slides/slide1.xml" Id="R7ce1c92dc974410a" /><Relationship Type="http://schemas.openxmlformats.org/officeDocument/2006/relationships/slide" Target="/ppt/slides/slide2.xml" Id="R0f182b95a7ac4bcc" /><Relationship Type="http://schemas.openxmlformats.org/officeDocument/2006/relationships/slide" Target="/ppt/slides/slide3.xml" Id="R3e1056a7a3344e33" /><Relationship Type="http://schemas.openxmlformats.org/officeDocument/2006/relationships/slide" Target="/ppt/slides/slide4.xml" Id="R5d81d539890e4b6b" /><Relationship Type="http://schemas.openxmlformats.org/officeDocument/2006/relationships/slide" Target="/ppt/slides/slide5.xml" Id="R6abdba7db4e44f4d" /><Relationship Type="http://schemas.openxmlformats.org/officeDocument/2006/relationships/slide" Target="/ppt/slides/slide6.xml" Id="R0f3106589ec9485f" /><Relationship Type="http://schemas.openxmlformats.org/officeDocument/2006/relationships/slide" Target="/ppt/slides/slide7.xml" Id="Ra2fe855beb954f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e020d90fb45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9c4a308c8a4ac5" /><Relationship Type="http://schemas.openxmlformats.org/officeDocument/2006/relationships/notesMaster" Target="/ppt/notesMasters/notesMaster1.xml" Id="R39b1e0a5fb6a43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fdcc7f5bfd4181" /><Relationship Type="http://schemas.openxmlformats.org/officeDocument/2006/relationships/notesMaster" Target="/ppt/notesMasters/notesMaster1.xml" Id="R5c3a2e693e76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2a07bf32f84341" /><Relationship Type="http://schemas.openxmlformats.org/officeDocument/2006/relationships/notesMaster" Target="/ppt/notesMasters/notesMaster1.xml" Id="R7ac731d6d80e47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5c34628d34b11" /><Relationship Type="http://schemas.openxmlformats.org/officeDocument/2006/relationships/notesMaster" Target="/ppt/notesMasters/notesMaster1.xml" Id="R9aaf94fa33ea4d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d83e0c785f49bd" /><Relationship Type="http://schemas.openxmlformats.org/officeDocument/2006/relationships/notesMaster" Target="/ppt/notesMasters/notesMaster1.xml" Id="R64c6ade1375842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7f02edb87a4490" /><Relationship Type="http://schemas.openxmlformats.org/officeDocument/2006/relationships/notesMaster" Target="/ppt/notesMasters/notesMaster1.xml" Id="R442727f23aa446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116fc47d244b7d" /><Relationship Type="http://schemas.openxmlformats.org/officeDocument/2006/relationships/notesMaster" Target="/ppt/notesMasters/notesMaster1.xml" Id="R2a5d77e3c3104f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本页只陈述已观察到的现象和待验证归因，不将车机 HMI 未显示定位等同于接收机内部 tracking 或 PVT 已失败。项目审计报告：E:/GNSS_Multipath_Project/docs/DARKROOM_RX_0913_ALL8_SIGNAL_QUALITY_REPORT_CN.md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波形接口参考：GPS IS-GPS-200N 官方接口文档：https://www.gps.gov/interface-control-documents-icds-interface-specifications-iss</a:t>
            </a:r>
          </a:p>
          <a:p xmlns:a="http://schemas.openxmlformats.org/drawingml/2006/main">
            <a:r>
              <a:t>项目审计数据：E:/GNSS_Multipath_Project/docs/DARKROOM_RX_0913_ALL8_SIGNAL_QUALITY_REPORT_CN.md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数据来源：E:/GNSS_Multipath_Project/docs/DARKROOM_RX_0913_ALL8_SIGNAL_QUALITY_REPORT_CN.md</a:t>
            </a:r>
          </a:p>
          <a:p xmlns:a="http://schemas.openxmlformats.org/drawingml/2006/main">
            <a:r>
              <a:t>审计 namespace：E:/GNSS_Multipath_Project/dataset_generation_logs/darkroom_rx_gnss_sdr_qa/darkroom_rx_0913_all8_20260915_r1</a:t>
            </a:r>
          </a:p>
          <a:p xmlns:a="http://schemas.openxmlformats.org/drawingml/2006/main">
            <a:r>
              <a:t>Mountain/Valley POOR 的 INCONCLUSIVE_NO_POSITION_OUTPUT 不能表述为“无法定位”。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本页三张占位框对应用户此前提供的三张车机照片：GOOD、POOR、切回纯 GPS 后仍未恢复。由于图片附件临时路径当前不存在，未伪造或替换为其他图像。车机观察不是内部 GNSS 接收机状态的直接测量。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与 POOR 的定义来自当前暗室参数生成配置和项目计划：GOOD 不是开阔天空基线，而是相对较弱的实测多径压力配置。Clean/BYPASS 是建议新增的控制条件，尚未执行。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推荐测试参考：ETSI TS 103 246-3（GNSS 定位系统性能要求）与 TS 103 246-5（测试流程）；EN 16803-2 涵盖道路 ITS GNSS 定位终端和记录回放思路。</a:t>
            </a:r>
          </a:p>
          <a:p xmlns:a="http://schemas.openxmlformats.org/drawingml/2006/main">
            <a:r>
              <a:t>ETSI TS 103 246-5：https://www.etsi.org/deliver/etsi_ts/103200_103299/10324605/01.02.01_60/ts_10324605v010201p.pdf</a:t>
            </a:r>
          </a:p>
          <a:p xmlns:a="http://schemas.openxmlformats.org/drawingml/2006/main">
            <a:r>
              <a:t>EN 16803-2：https://www.nen.nl/nen-en-16803-2-2020-en-275958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参考量尺仅作为测试设计参考，不是对车机地图 HMI 的直接合格判据：EU Regulation 2017/79（eCall 型式要求）https://eur-lex.europa.eu/legal-content/EN/TXT/PDF/?uri=CELEX:02017R0079-20251117</a:t>
            </a:r>
          </a:p>
          <a:p xmlns:a="http://schemas.openxmlformats.org/drawingml/2006/main">
            <a:r>
              <a:t>RF 接收机阻塞参考：ETSI EN 303 413 https://www.etsi.org/deliver/etsi_en/303400_303499/303413/01.02.01_60/en_303413v010201p.pdf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427886d7a4b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64f61af6464961" /><Relationship Type="http://schemas.openxmlformats.org/officeDocument/2006/relationships/slideLayout" Target="/ppt/slideLayouts/slideLayout1.xml" Id="Rf9168856ea3e4d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168856ea3e4d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a8d023f47434c" /><Relationship Type="http://schemas.openxmlformats.org/officeDocument/2006/relationships/notesSlide" Target="/ppt/notesSlides/notesSlide1.xml" Id="Rab732d0909f34f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bd0ba78c3463c" /><Relationship Type="http://schemas.openxmlformats.org/officeDocument/2006/relationships/notesSlide" Target="/ppt/notesSlides/notesSlide2.xml" Id="R9a3a9a6a18ad48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5ad5333b548dd" /><Relationship Type="http://schemas.openxmlformats.org/officeDocument/2006/relationships/notesSlide" Target="/ppt/notesSlides/notesSlide3.xml" Id="R642888e6e0704e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1d43c19c540aa" /><Relationship Type="http://schemas.openxmlformats.org/officeDocument/2006/relationships/notesSlide" Target="/ppt/notesSlides/notesSlide4.xml" Id="R542a3929b82e4d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595ad10be4e16" /><Relationship Type="http://schemas.openxmlformats.org/officeDocument/2006/relationships/notesSlide" Target="/ppt/notesSlides/notesSlide5.xml" Id="R714df3708a264d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c4949f1714ab4" /><Relationship Type="http://schemas.openxmlformats.org/officeDocument/2006/relationships/notesSlide" Target="/ppt/notesSlides/notesSlide6.xml" Id="R3b198c49436541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045901f034646" /><Relationship Type="http://schemas.openxmlformats.org/officeDocument/2006/relationships/notesSlide" Target="/ppt/notesSlides/notesSlide7.xml" Id="R53eb3430881b46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95C92-66E4-4DFB-BFA1-5D5B6C8F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21155-2A02-43B3-B638-05FDD6C7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F3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DDF3F5"/>
                </a:solidFill>
                <a:latin typeface="Microsoft YaHei"/>
                <a:ea typeface="Microsoft YaHei"/>
                <a:cs typeface="Microsoft YaHei"/>
              </a:rPr>
              <a:t>暗室信道 · 车机定位验证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FD33F-4AD1-4C39-A421-A0E1CB86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定位测试结果与</a:t>
            </a:r>
          </a:p>
          <a:p xmlns:a="http://schemas.openxmlformats.org/drawingml/2006/main">
            <a:pPr algn="l">
              <a:def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POOR 场景验证计划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7348C-01BD-46D6-9C2C-E33203CC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E1D3C-519D-4A0C-B380-D6C73744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B9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B9D5E1"/>
                </a:solidFill>
                <a:latin typeface="Microsoft YaHei"/>
                <a:ea typeface="Microsoft YaHei"/>
                <a:cs typeface="Microsoft YaHei"/>
              </a:rPr>
              <a:t>自发自收 GNSS-SDR 对照 · 车机黑盒现象 · 跨车辆归因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7C837-5118-43BE-BE48-221D80BC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10572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324B"/>
          </a:solidFill>
          <a:ln xmlns:a="http://schemas.openxmlformats.org/drawingml/2006/main" w="9525">
            <a:solidFill>
              <a:srgbClr val="2A587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6075B-FB15-462C-86CC-022CD9E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当前事实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8150A-40FA-421E-B19A-9FF93565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482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车机在 POOR 输入下未显示有效定位；GNSS-SDR 对部分 POOR 输入仍可定位。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50B1F-0D9D-44E3-9003-5E479B86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9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B9D5E1"/>
                </a:solidFill>
                <a:latin typeface="Microsoft YaHei"/>
                <a:ea typeface="Microsoft YaHei"/>
                <a:cs typeface="Microsoft YaHei"/>
              </a:rPr>
              <a:t>尚不能区分：信道过严 · 车机恢复链 · 车机 HMI / 内部融合状态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70C4B-AB94-4156-8806-FDB6D771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9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9D5E1"/>
                </a:solidFill>
                <a:latin typeface="Microsoft YaHei"/>
                <a:ea typeface="Microsoft YaHei"/>
                <a:cs typeface="Microsoft YaHei"/>
              </a:rPr>
              <a:t>2026-09-15 · 内部汇报稿</a:t>
            </a:r>
          </a:p>
        </p:txBody>
      </p:sp>
    </p:spTree>
    <p:extLst>
      <p:ext uri="{BB962C8B-B14F-4D97-AF65-F5344CB8AC3E}">
        <p14:creationId xmlns:p14="http://schemas.microsoft.com/office/powerpoint/2010/main" val="884302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AAAF9C-B937-43B7-A1CE-33277205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DARKROOM · GNSS 接收验证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39D93-9F7D-4BE8-AD5D-D898FA12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测试链路与判定边界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623BF-0670-4BFD-BBD6-E82AF8A9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B85DE-0805-4F46-8ACE-A327D14F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同一段模拟 GPS L1 C/A 信号，同时进入车机与独立 GNSS-SDR 对照链。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E544E-83A6-4742-A900-F667D199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562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24B"/>
          </a:solidFill>
          <a:ln xmlns:a="http://schemas.openxmlformats.org/drawingml/2006/main" w="0">
            <a:solidFill>
              <a:srgbClr val="12324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752BE-DA0C-43DF-8CDA-E6528EE4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暗室参数表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B2065-AD33-4DA4-AE75-3A0E3FFA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09750"/>
            <a:ext cx="1562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64A44-945E-447B-8D88-419D784E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193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信道模拟器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03028-C12F-4156-8013-35EA8C60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1981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24B"/>
          </a:solidFill>
          <a:ln xmlns:a="http://schemas.openxmlformats.org/drawingml/2006/main" w="0">
            <a:solidFill>
              <a:srgbClr val="1232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1177C-E0E5-4023-91A9-72F09FCA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193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 GPS L1 C/A RF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00FEC-0576-4644-9A67-6A778B63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85975"/>
            <a:ext cx="3048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ECA17-31B2-4C8A-B7A0-2A32599F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85975"/>
            <a:ext cx="3048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D7922-200D-4084-8F7E-9D9CE701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6700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0CF22-A619-402C-AE27-82A4363C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480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EC168-AEB0-41BF-911B-A8DB7F40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480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7336D-C3CB-4246-AB3F-18404F8F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480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BC794-4FF1-40DF-A69D-F74AC39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28975"/>
            <a:ext cx="2667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F180E-3E37-4F59-9A70-080F1387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19575"/>
            <a:ext cx="2667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65CAD-9FA5-4F8C-96B9-C3C03A1A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2724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2F3EA"/>
          </a:solidFill>
          <a:ln xmlns:a="http://schemas.openxmlformats.org/drawingml/2006/main" w="9525">
            <a:solidFill>
              <a:srgbClr val="2E9E7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0F956-F3CE-48D2-B0AF-FDCB058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E9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E9E70"/>
                </a:solidFill>
                <a:latin typeface="Microsoft YaHei"/>
                <a:ea typeface="Microsoft YaHei"/>
                <a:cs typeface="Microsoft YaHei"/>
              </a:rPr>
              <a:t>当前车机 → 地图 / HMI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2EC26-5E8A-4B86-8D2D-D78B86C4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52006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9EFF4"/>
          </a:solidFill>
          <a:ln xmlns:a="http://schemas.openxmlformats.org/drawingml/2006/main" w="9525">
            <a:solidFill>
              <a:srgbClr val="C8D4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90D89-57AE-4D28-8F72-335CC552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RF采集 → GNSS-SDR → tracking / PVT / NMEA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F1ED65-7BEB-4C3D-9FA7-3C9D5359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三个状态必须分开记录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535E7-0623-44D5-A05D-14250E6C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435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4F6B9-84ED-4A26-8934-62C868A0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7721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Tracking 失锁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73210-2C15-42B6-B1CD-46F8E02E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7531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9885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C972B-9970-4F16-8E75-3ED86E3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43575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18B2F"/>
          </a:solidFill>
          <a:ln xmlns:a="http://schemas.openxmlformats.org/drawingml/2006/main" w="0">
            <a:solidFill>
              <a:srgbClr val="D18B2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1DE76-D933-4CB8-9795-F187312F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72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PVT 无输出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270AA9-D02C-4D4D-88AB-AA0A5EA3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531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9885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9C3954-69BF-43EE-8C60-37303DFE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43575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24B"/>
          </a:solidFill>
          <a:ln xmlns:a="http://schemas.openxmlformats.org/drawingml/2006/main" w="0">
            <a:solidFill>
              <a:srgbClr val="1232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3EDAED-1D7C-481A-BED6-9EEC5EE7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7721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地图未显示定位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245F8F-7937-425D-ADF2-991FC468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数据来源：0913DarkroomRx GNSS-SDR 独立审计；车机部分为现场黑盒观察</a:t>
            </a:r>
          </a:p>
        </p:txBody>
      </p:sp>
    </p:spTree>
    <p:extLst>
      <p:ext uri="{BB962C8B-B14F-4D97-AF65-F5344CB8AC3E}">
        <p14:creationId xmlns:p14="http://schemas.microsoft.com/office/powerpoint/2010/main" val="1699034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A1B62-33F5-44BE-9F36-00D95349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DARKROOM · GNSS 接收验证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0C2C9-0086-4887-803A-FAE2F0F6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GNSS-SDR 对 POOR 的独立结果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E8C0E-42AE-485F-91A7-C23E640A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A05AB-3886-455F-9F7F-D39C16D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8 个 0913DarkroomRx 输入的只读审计：POOR 并非全部表现为 GNSS-SDR 无定位。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1619250"/>
                <a:gridCol w="1952625"/>
                <a:gridCol w="1619250"/>
                <a:gridCol w="1714500"/>
                <a:gridCol w="2600325"/>
              </a:tblGrid>
              <a:tr h="7500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定位审计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有效位置输出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最长连续定位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 Tracking 失锁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Highway/Open
POOR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SUSTAINED_FIX</a:t>
                      </a:r>
                    </a:p>
                  </a:txBody>
                  <a:tcPr marL="91440" marR="91440" marT="45720" marB="45720">
                    <a:solidFill>
                      <a:srgbClr val="E2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103/105 s
覆盖 98.1%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5.370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可定位；有短时缺口</a:t>
                      </a:r>
                    </a:p>
                  </a:txBody>
                  <a:tcPr marL="91440" marR="91440" marT="45720" marB="45720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Urban
POOR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SUSTAINED_FIX</a:t>
                      </a:r>
                    </a:p>
                  </a:txBody>
                  <a:tcPr marL="91440" marR="91440" marT="45720" marB="45720">
                    <a:solidFill>
                      <a:srgbClr val="E2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12/12 s
覆盖 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4.728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可定位；观测段较短</a:t>
                      </a:r>
                    </a:p>
                  </a:txBody>
                  <a:tcPr marL="91440" marR="91440" marT="45720" marB="45720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Mountain/Valley
POOR</a:t>
                      </a:r>
                    </a:p>
                  </a:txBody>
                  <a:tcPr marL="91440" marR="91440" marT="45720" marB="45720"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18B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INCONCLUSIVE</a:t>
                      </a:r>
                    </a:p>
                  </a:txBody>
                  <a:tcPr marL="91440" marR="91440" marT="45720" marB="45720">
                    <a:solidFill>
                      <a:srgbClr val="FFF1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NMEA/PVT
但有 tracking/telemetry</a:t>
                      </a:r>
                    </a:p>
                  </a:txBody>
                  <a:tcPr marL="91440" marR="91440" marT="45720" marB="45720">
                    <a:solidFill>
                      <a:srgbClr val="FFF1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5.527 s</a:t>
                      </a:r>
                    </a:p>
                  </a:txBody>
                  <a:tcPr marL="91440" marR="91440" marT="45720" marB="45720"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结论保守：证据不足</a:t>
                      </a:r>
                    </a:p>
                  </a:txBody>
                  <a:tcPr marL="91440" marR="91440" marT="45720" marB="4572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13595-ACA6-4B45-8FAC-6A4FFCE6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A8C40-258F-4B00-BB60-D42B3851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8 个任务合计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91A9B-75A4-4422-B116-C6E6C9D6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5A4BC-5762-4F81-9FC3-AC2DC1DD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572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次 debounced tracking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72161-4C4F-4C31-94C8-035DB088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76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最长单次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98A26-D1B6-4F99-A143-85E57D3F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149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rPr>
              <a:t>5.639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8AD9E-A4E2-45C1-8D59-3B119D8C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86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2324B"/>
                </a:solidFill>
                <a:latin typeface="Microsoft YaHei"/>
                <a:ea typeface="Microsoft YaHei"/>
                <a:cs typeface="Microsoft YaHei"/>
              </a:rPr>
              <a:t>失锁 ≠ PVT/HMI 失效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7ED2A-A50E-4CC8-8B55-CA7476AC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数据来源：0913DarkroomRx GNSS-SDR 独立审计；车机部分为现场黑盒观察</a:t>
            </a:r>
          </a:p>
        </p:txBody>
      </p:sp>
    </p:spTree>
    <p:extLst>
      <p:ext uri="{BB962C8B-B14F-4D97-AF65-F5344CB8AC3E}">
        <p14:creationId xmlns:p14="http://schemas.microsoft.com/office/powerpoint/2010/main" val="413408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39BA5-23B7-4A7A-9423-C7F9938F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DARKROOM · GNSS 接收验证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E14E4-6649-4FA3-8BB0-DA7C489F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车机黑盒表现：POOR 输入后未恢复定位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2957E-84BF-4689-AC8C-98ED136B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FB5C3-5D66-4109-822C-F1D0960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以下为现场观察的汇报位置；原始实拍截图文件当前不可访问，保留为可替换占位框。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732BE-40B2-498E-AA41-4AC8E476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4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FAF15-913F-4DF3-80E9-8BA29B8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0099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9050">
            <a:solidFill>
              <a:srgbClr val="8BA3B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401C3-ADDE-4BDB-93AF-6F0A25E7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14625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原始实拍截图</a:t>
            </a:r>
          </a:p>
          <a:p xmlns:a="http://schemas.openxmlformats.org/drawingml/2006/main">
            <a:pPr algn="ctr">
              <a:def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暂不可访问</a:t>
            </a:r>
          </a:p>
          <a:p xmlns:a="http://schemas.openxmlformats.org/drawingml/2006/main">
            <a:pPr algn="ctr">
              <a:def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重新上传后原图替换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C6B90-05D0-4A23-BAEE-1AB0ADB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图1  GOOD：位置 / 时间 / 精度可见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886AB-CA7B-47A1-BDAC-54860E7D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6690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4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F0463-7227-41AB-ADD6-64069D5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0099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9050">
            <a:solidFill>
              <a:srgbClr val="8BA3B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5AF72-3ECF-4445-9854-30ADD1D3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14625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原始实拍截图</a:t>
            </a:r>
          </a:p>
          <a:p xmlns:a="http://schemas.openxmlformats.org/drawingml/2006/main">
            <a:pPr algn="ctr">
              <a:def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暂不可访问</a:t>
            </a:r>
          </a:p>
          <a:p xmlns:a="http://schemas.openxmlformats.org/drawingml/2006/main">
            <a:pPr algn="ctr">
              <a:def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重新上传后原图替换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117CB-6C3A-4646-9128-624AEABD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72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图2  POOR：精度无、GPS时间未提供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825E7-47AB-4CFA-9E7F-67AACB76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4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00395-3ABB-48B8-8CAE-FA44B523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0099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9050">
            <a:solidFill>
              <a:srgbClr val="8BA3B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D441F-1D96-467E-B378-EBC8C6FF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14625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原始实拍截图</a:t>
            </a:r>
          </a:p>
          <a:p xmlns:a="http://schemas.openxmlformats.org/drawingml/2006/main">
            <a:pPr algn="ctr">
              <a:def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暂不可访问</a:t>
            </a:r>
          </a:p>
          <a:p xmlns:a="http://schemas.openxmlformats.org/drawingml/2006/main">
            <a:pPr algn="ctr">
              <a:def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重新上传后原图替换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20143-3DCC-4722-B949-1012800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图3  切回纯GPS：位置图标仍未恢复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6FA9C-1793-4637-B964-731333C4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515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D7"/>
          </a:solidFill>
          <a:ln xmlns:a="http://schemas.openxmlformats.org/drawingml/2006/main" w="9525">
            <a:solidFill>
              <a:srgbClr val="D18B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47014-CEF9-49D9-80A2-5FAE1D6F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观察对象是车机界面；内部 tracking、PVT、融合状态未暴露。当前结论只能写为：车机在测试 POOR 输入下未显示有效定位。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7587B-99C3-41F8-BBDF-6E368358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现场照片：由用户提供；当前工程目录中未找到原始图片文件，因此本页保留原图替换框</a:t>
            </a:r>
          </a:p>
        </p:txBody>
      </p:sp>
    </p:spTree>
    <p:extLst>
      <p:ext uri="{BB962C8B-B14F-4D97-AF65-F5344CB8AC3E}">
        <p14:creationId xmlns:p14="http://schemas.microsoft.com/office/powerpoint/2010/main" val="793451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B2609-2F2B-4509-9F13-AAE94C06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DARKROOM · GNSS 接收验证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16AC1-32E7-4E53-89FE-23044E39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GOOD 与 POOR 的真实含义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EF731-A567-41C3-BD34-7622873D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DED6F-9FAB-467D-AC4D-B32E6600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当前标签是项目内的相对压力配置，不是汽车行业标准等级。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FDE6D-88DD-4B2F-AFE2-A237B22E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3371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B"/>
          </a:solidFill>
          <a:ln xmlns:a="http://schemas.openxmlformats.org/drawingml/2006/main" w="0">
            <a:solidFill>
              <a:srgbClr val="12324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36BA6-A3E7-4F90-BA77-C1A50D5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33718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40597-FF11-4550-9DEF-8251B30F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2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2324B"/>
                </a:solidFill>
                <a:latin typeface="Microsoft YaHei"/>
                <a:ea typeface="Microsoft YaHei"/>
                <a:cs typeface="Microsoft YaHei"/>
              </a:rPr>
              <a:t>Clean / BYPASS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EC33F-4569-4322-B3C4-9F46A568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标准或无附加信道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A4A95-BE7D-4C7C-A89E-53CF255E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必须补做的控制基线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B32D7-67DE-4F84-87D1-BF40A0C6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43100"/>
            <a:ext cx="3371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53C77-4AB6-4E8B-BAE9-9AD311E4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38350"/>
            <a:ext cx="33718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1F7AA-82C3-4A68-BD91-4EADEC55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241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GOOD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8C81F-08CB-4685-B3F5-54D1AEB3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956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来自实测多径窗口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C28E5-4212-4EFF-B52B-8D1E8F2B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相对较弱，但不是无多径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E5B81-8348-40E0-A168-054A86C9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71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28377-1DBA-4786-B0A7-9C23836F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33718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BAE86-E518-4B62-922B-D00959B3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C94B4B"/>
                </a:solidFill>
                <a:latin typeface="Microsoft YaHei"/>
                <a:ea typeface="Microsoft YaHei"/>
                <a:cs typeface="Microsoft YaHei"/>
              </a:rPr>
              <a:t>POOR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8CB25-08F7-4F14-93EE-0C82B245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956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更强压力配置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B12FA-A9F8-44E2-B1C9-FD4AE94B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766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用于应力与失锁验证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73B2A-A6C4-495E-8725-95B2766F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2324B"/>
                </a:solidFill>
                <a:latin typeface="Microsoft YaHei"/>
                <a:ea typeface="Microsoft YaHei"/>
                <a:cs typeface="Microsoft YaHei"/>
              </a:rPr>
              <a:t>GOOD 不是“无多径”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2628B-7B81-49EF-9FD5-68BB566B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它同样来自实测多径证据窗口，因此三个状态都可能对车机形成压力。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D7E65-9379-499D-A3B8-5885DBC7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33718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A4B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BDEBD-4000-4FFB-B2EF-80F31D22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5772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必须加入 Clean / BYPASS</a:t>
            </a:r>
          </a:p>
          <a:p xmlns:a="http://schemas.openxmlformats.org/drawingml/2006/main">
            <a:pPr algn="ctr">
              <a:defRPr sz="1350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才能判断 POOR 是否过严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9D2D-F093-4A67-88E3-3AB4708B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数据来源：0913DarkroomRx GNSS-SDR 独立审计；车机部分为现场黑盒观察</a:t>
            </a:r>
          </a:p>
        </p:txBody>
      </p:sp>
    </p:spTree>
    <p:extLst>
      <p:ext uri="{BB962C8B-B14F-4D97-AF65-F5344CB8AC3E}">
        <p14:creationId xmlns:p14="http://schemas.microsoft.com/office/powerpoint/2010/main" val="922649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8845F-AB74-4379-909D-053AB5E4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DARKROOM · GNSS 接收验证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191F5-59A3-4AA0-BDCB-43205D46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第二辆车：用同一信号做跨车辆验证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8D27F-2E77-4E4E-8854-7CBE4F47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A72FE-2746-4E64-8236-42538635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目标：把“信道太严苛”与“当前车机恢复 / HMI 问题”分开。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2819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66750"/>
                <a:gridCol w="2381250"/>
                <a:gridCol w="2381250"/>
                <a:gridCol w="2381250"/>
                <a:gridCol w="3314700"/>
              </a:tblGrid>
              <a:tr h="4699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 A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 B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同步记录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Clean / BYPASS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位置、时间、精度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位置、时间、精度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 + GNSS-SDR</a:t>
                      </a:r>
                    </a:p>
                  </a:txBody>
                  <a:tcPr marL="91440" marR="91440" marT="45720" marB="45720"/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GOOD</a:t>
                      </a:r>
                    </a:p>
                  </a:txBody>
                  <a:tcPr marL="91440" marR="91440" marT="45720" marB="45720">
                    <a:solidFill>
                      <a:srgbClr val="D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seed / RF 电平</a:t>
                      </a:r>
                    </a:p>
                  </a:txBody>
                  <a:tcPr marL="91440" marR="91440" marT="45720" marB="45720"/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POOR</a:t>
                      </a:r>
                    </a:p>
                  </a:txBody>
                  <a:tcPr marL="91440" marR="91440" marT="45720" marB="45720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tracking / PVT / HMI</a:t>
                      </a:r>
                    </a:p>
                  </a:txBody>
                  <a:tcPr marL="91440" marR="91440" marT="45720" marB="45720"/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GOOD → POOR → Clean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恢复时间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恢复时间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同一顺序</a:t>
                      </a:r>
                    </a:p>
                  </a:txBody>
                  <a:tcPr marL="91440" marR="91440" marT="45720" marB="45720"/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POOR → Clean → 重启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记录重启边界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4BBFC-22FD-4D74-845F-04526B59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1125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5008F-44C5-4FBF-9617-F61DD388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控制条件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CB03A-D902-47F9-83B7-C7E125B3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同一冻结参数表 · 同一随机种子 · 校准后的天线口功率 · 同步视频与 GNSS-SDR 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4A1F3-D841-48EE-8114-B6BF041D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626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最低要求：Vehicle B；理想配置：再增加 Vehicle C。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C22BD-D766-4AEA-8CC4-2609DECA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526579"/>
                </a:solidFill>
                <a:latin typeface="Microsoft YaHei"/>
                <a:ea typeface="Microsoft YaHei"/>
                <a:cs typeface="Microsoft YaHei"/>
              </a:rPr>
              <a:t>数据来源：0913DarkroomRx GNSS-SDR 独立审计；车机部分为现场黑盒观察</a:t>
            </a:r>
          </a:p>
        </p:txBody>
      </p:sp>
    </p:spTree>
    <p:extLst>
      <p:ext uri="{BB962C8B-B14F-4D97-AF65-F5344CB8AC3E}">
        <p14:creationId xmlns:p14="http://schemas.microsoft.com/office/powerpoint/2010/main" val="757319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1A389-F43B-49F6-B12B-8A7DA8AB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DF3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DDF3F5"/>
                </a:solidFill>
                <a:latin typeface="Microsoft YaHei"/>
                <a:ea typeface="Microsoft YaHei"/>
                <a:cs typeface="Microsoft YaHei"/>
              </a:rPr>
              <a:t>DARKROOM · 下一步判定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8FAAC-ECC9-4DA0-8E97-E26405B9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判定逻辑与周五计划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4260C-E239-4B85-B429-4D1A9809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8"/>
          </a:solidFill>
          <a:ln xmlns:a="http://schemas.openxmlformats.org/drawingml/2006/main" w="0">
            <a:solidFill>
              <a:srgbClr val="18A4B8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628775"/>
          <a:ext xmlns:a="http://schemas.openxmlformats.org/drawingml/2006/main" cx="11125200" cy="3028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714750"/>
                <a:gridCol w="3981450"/>
              </a:tblGrid>
              <a:tr h="60579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解释方向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处理建议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车可定位，A 车失败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9ED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信号并非普遍不可定位；A 车恢复链 / HMI 待查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9ED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POOR，做车机差异定位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A、B 均通过 Clean/GOOD，均失败 POOR</a:t>
                      </a:r>
                    </a:p>
                  </a:txBody>
                  <a:tcPr marL="91440" marR="91440" marT="45720" marB="45720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9ED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POOR 可能过严，不宜作车辆定位主测试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9ED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 deprecated；保留 artifact，不删除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A、B 连 Clean/BYPASS 也失败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9ED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先怀疑模拟器 / RF 链路或基础配置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9ED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 POOR 结论，先做链路校准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切回 Clean 后仅重启恢复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9ED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接收机状态机 / HMI 恢复路径待查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9ED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重复序列并记录恢复边界</a:t>
                      </a:r>
                    </a:p>
                  </a:txBody>
                  <a:tcPr marL="91440" marR="91440" marT="45720" marB="45720">
                    <a:solidFill>
                      <a:srgbClr val="12324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E3E3B-49C3-4CD8-933F-BA498132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1125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2324B"/>
          </a:solidFill>
          <a:ln xmlns:a="http://schemas.openxmlformats.org/drawingml/2006/main" w="9525">
            <a:solidFill>
              <a:srgbClr val="2A587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C29FF-E2F3-44EC-BF7B-E0AE4ECD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8A4B8"/>
                </a:solidFill>
                <a:latin typeface="Microsoft YaHei"/>
                <a:ea typeface="Microsoft YaHei"/>
                <a:cs typeface="Microsoft YaHei"/>
              </a:rPr>
              <a:t>周五唯一建议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42C0D-1D39-401B-9394-693BBB5F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重启车机 → 选 1 个 GOOD + 1 个 POOR 复测 → 再测 8 个带雨场景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ADA4A-DFAE-4291-8D3B-4740934B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B9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B9D5E1"/>
                </a:solidFill>
                <a:latin typeface="Microsoft YaHei"/>
                <a:ea typeface="Microsoft YaHei"/>
                <a:cs typeface="Microsoft YaHei"/>
              </a:rPr>
              <a:t>当前状态：未执行新实验；需要 Commander 批准 Clean/BYPASS 与跨车辆测试矩阵。</a:t>
            </a:r>
          </a:p>
        </p:txBody>
      </p:sp>
    </p:spTree>
    <p:extLst>
      <p:ext uri="{BB962C8B-B14F-4D97-AF65-F5344CB8AC3E}">
        <p14:creationId xmlns:p14="http://schemas.microsoft.com/office/powerpoint/2010/main" val="1862107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2026-09-15T01:08:37.2390000Z</dcterms:created>
  <dcterms:modified xsi:type="dcterms:W3CDTF">2026-09-15T01:08:37.2400000Z</dcterms:modified>
</coreProperties>
</file>