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c8ab9362a943ef" /><Relationship Type="http://schemas.openxmlformats.org/officeDocument/2006/relationships/extended-properties" Target="/docProps/app.xml" Id="R17ff49690c024d89" /><Relationship Type="http://schemas.openxmlformats.org/officeDocument/2006/relationships/officeDocument" Target="/ppt/presentation.xml" Id="Rde43694117494d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9d47489413491b"/>
  </p:sldMasterIdLst>
  <p:notesMasterIdLst>
    <p:notesMasterId xmlns:r="http://schemas.openxmlformats.org/officeDocument/2006/relationships" r:id="Rf2bb74ae4fe2473a"/>
  </p:notesMasterIdLst>
  <p:sldIdLst>
    <p:sldId xmlns:r="http://schemas.openxmlformats.org/officeDocument/2006/relationships" id="256" r:id="Rae1c1fcb52c348ed"/>
    <p:sldId xmlns:r="http://schemas.openxmlformats.org/officeDocument/2006/relationships" id="257" r:id="R2168e56fd215483b"/>
    <p:sldId xmlns:r="http://schemas.openxmlformats.org/officeDocument/2006/relationships" id="258" r:id="Rb22077a834eb48f4"/>
    <p:sldId xmlns:r="http://schemas.openxmlformats.org/officeDocument/2006/relationships" id="259" r:id="R012c432b452441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338dd9d37d4027" /><Relationship Type="http://schemas.openxmlformats.org/officeDocument/2006/relationships/slideMaster" Target="/ppt/slideMasters/slideMaster1.xml" Id="Rd59d47489413491b" /><Relationship Type="http://schemas.openxmlformats.org/officeDocument/2006/relationships/notesMaster" Target="/ppt/notesMasters/notesMaster1.xml" Id="Rf2bb74ae4fe2473a" /><Relationship Type="http://schemas.openxmlformats.org/officeDocument/2006/relationships/presProps" Target="/ppt/presProps.xml" Id="R61cb47c7c78d4fad" /><Relationship Type="http://schemas.openxmlformats.org/officeDocument/2006/relationships/tableStyles" Target="/ppt/tableStyles.xml" Id="R7edfcbd3c77b4123" /><Relationship Type="http://schemas.openxmlformats.org/officeDocument/2006/relationships/slide" Target="/ppt/slides/slide1.xml" Id="Rae1c1fcb52c348ed" /><Relationship Type="http://schemas.openxmlformats.org/officeDocument/2006/relationships/slide" Target="/ppt/slides/slide2.xml" Id="R2168e56fd215483b" /><Relationship Type="http://schemas.openxmlformats.org/officeDocument/2006/relationships/slide" Target="/ppt/slides/slide3.xml" Id="Rb22077a834eb48f4" /><Relationship Type="http://schemas.openxmlformats.org/officeDocument/2006/relationships/slide" Target="/ppt/slides/slide4.xml" Id="R012c432b452441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9659ebd24548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4c609f457c439b" /><Relationship Type="http://schemas.openxmlformats.org/officeDocument/2006/relationships/notesMaster" Target="/ppt/notesMasters/notesMaster1.xml" Id="Rb6d466091a2746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f92fab07154b6f" /><Relationship Type="http://schemas.openxmlformats.org/officeDocument/2006/relationships/notesMaster" Target="/ppt/notesMasters/notesMaster1.xml" Id="Rd496fa21f21d45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b32d2ea4f94781" /><Relationship Type="http://schemas.openxmlformats.org/officeDocument/2006/relationships/notesMaster" Target="/ppt/notesMasters/notesMaster1.xml" Id="R85e4ed932eec47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8f51f581104161" /><Relationship Type="http://schemas.openxmlformats.org/officeDocument/2006/relationships/notesMaster" Target="/ppt/notesMasters/notesMaster1.xml" Id="R20a904efaeb141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项目综合进度：E:/GNSS_Multipath_Project/docs/DARKROOM_CHANNEL_MODELING_16_SCENARIO_PROGRESS_REPORT_CN.md</a:t>
            </a:r>
          </a:p>
          <a:p xmlns:a="http://schemas.openxmlformats.org/drawingml/2006/main">
            <a:r>
              <a:t>现场截图和现象描述：用户提供的三张现场照片及本次汇报要求。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模型与16场景事实：E:/GNSS_Multipath_Project/docs/DARKROOM_CHANNEL_MODELING_16_SCENARIO_PROGRESS_REPORT_CN.md</a:t>
            </a:r>
          </a:p>
          <a:p xmlns:a="http://schemas.openxmlformats.org/drawingml/2006/main">
            <a:r>
              <a:t>基础表清单与哈希：E:/GNSS_Multipath_Project/dataset_generation_logs/channel_modeling/0828darkroomPar/table_export_manifest.json</a:t>
            </a:r>
          </a:p>
          <a:p xmlns:a="http://schemas.openxmlformats.org/drawingml/2006/main">
            <a:r>
              <a:t>Rain层清单与QA：E:/GNSS_Multipath_Project/dataset_generation_logs/channel_modeling/rain_effect_layer_stage3_v1_20260830_r5/rain_effect_layer_manifest.json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现场图片来源：用户提供的本地照片：</a:t>
            </a:r>
          </a:p>
          <a:p xmlns:a="http://schemas.openxmlformats.org/drawingml/2006/main">
            <a:r>
              <a:t>  C:/Users/Jing_/AppData/Local/Temp/codex-clipboard-2497d184-a7a0-4a7c-b1c3-5e46fca9a5ed.jpg</a:t>
            </a:r>
          </a:p>
          <a:p xmlns:a="http://schemas.openxmlformats.org/drawingml/2006/main">
            <a:r>
              <a:t>  C:/Users/Jing_/AppData/Local/Temp/codex-clipboard-759f7f79-242b-429a-901a-eb42598609f5.jpg</a:t>
            </a:r>
          </a:p>
          <a:p xmlns:a="http://schemas.openxmlformats.org/drawingml/2006/main">
            <a:r>
              <a:t>  C:/Users/Jing_/AppData/Local/Temp/codex-clipboard-80737b71-7d46-497c-b370-2188aedc4433.jpg</a:t>
            </a:r>
          </a:p>
          <a:p xmlns:a="http://schemas.openxmlformats.org/drawingml/2006/main">
            <a:r>
              <a:t>图片文字说明依据用户对现场过程的描述；本页不把界面现象直接解释为信道或车机结论。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复测方案依据：用户本次汇报要求及已确认的暗室信道模拟闭环思路。</a:t>
            </a:r>
          </a:p>
          <a:p xmlns:a="http://schemas.openxmlformats.org/drawingml/2006/main">
            <a:r>
              <a:t>当前模型边界：E:/GNSS_Multipath_Project/docs/DARKROOM_CHANNEL_MODELING_16_SCENARIO_PROGRESS_REPORT_CN.md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7a3c567c14f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7667e80e3c4ad4" /><Relationship Type="http://schemas.openxmlformats.org/officeDocument/2006/relationships/slideLayout" Target="/ppt/slideLayouts/slideLayout1.xml" Id="Re6725aa6238a4f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725aa6238a4f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2494e24c3450c" /><Relationship Type="http://schemas.openxmlformats.org/officeDocument/2006/relationships/notesSlide" Target="/ppt/notesSlides/notesSlide1.xml" Id="R9a3aee5465f042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47826e6ef4c64" /><Relationship Type="http://schemas.openxmlformats.org/officeDocument/2006/relationships/notesSlide" Target="/ppt/notesSlides/notesSlide2.xml" Id="Rb2c45ca459b246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6b8a1ae524415" /><Relationship Type="http://schemas.openxmlformats.org/officeDocument/2006/relationships/image" Target="/ppt/media/image.jpeg" Id="R000b0cbfc8314bad" /><Relationship Type="http://schemas.openxmlformats.org/officeDocument/2006/relationships/image" Target="/ppt/media/image2.jpeg" Id="R0b7d5cc29858432d" /><Relationship Type="http://schemas.openxmlformats.org/officeDocument/2006/relationships/image" Target="/ppt/media/image3.jpeg" Id="Rab4665d3adab4a15" /><Relationship Type="http://schemas.openxmlformats.org/officeDocument/2006/relationships/notesSlide" Target="/ppt/notesSlides/notesSlide3.xml" Id="R5ceb805b69a14c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0bb3755204e1d" /><Relationship Type="http://schemas.openxmlformats.org/officeDocument/2006/relationships/notesSlide" Target="/ppt/notesSlides/notesSlide4.xml" Id="R9a9d97a678b446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CB226-85A8-44D4-921F-392102C3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暗室雨效应层与定位异常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873B7-F22C-4052-86E8-4F58C6F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B7C6DA"/>
                </a:solidFill>
              </a:defRPr>
            </a:pPr>
            <a:r>
              <a:rPr sz="1725">
                <a:solidFill>
                  <a:srgbClr val="B7C6DA"/>
                </a:solidFill>
              </a:rPr>
              <a:t>16个场景参数集已经形成；当前核心问题是区分“信道过严”与“车机侧异常”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311A2-C9A0-421B-A134-BD8C46BC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72272-2E41-47CD-93BE-D24D4ADB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C28"/>
                </a:solidFill>
              </a:defRPr>
            </a:pPr>
            <a:r>
              <a:rPr sz="1650" b="1">
                <a:solidFill>
                  <a:srgbClr val="F28C28"/>
                </a:solidFill>
              </a:rPr>
              <a:t>现场观察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0FB4F-CBD3-4E82-9284-A6221B71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好场景：车辆界面可定位并显示 GPS 信息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坏场景：定位丢失，时间信息消失；重新加载纯 GPS 后地图仍未恢复位置图标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A160F-B2DD-4D2B-9B4F-EA33AAFB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95875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B522B-2AD2-4CC5-A373-1CC77410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03FBB-2F98-40A3-B976-B6A03EA5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95875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C8EF8-812B-4D2F-B6BE-33E5F7BB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152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B31"/>
          </a:solidFill>
          <a:ln xmlns:a="http://schemas.openxmlformats.org/drawingml/2006/main" w="9525">
            <a:solidFill>
              <a:srgbClr val="3A52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88FEA-DB8F-47F7-A9EA-27D1D9DC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720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四路径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参数表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FAA66-04DF-4A61-B591-E1D2E861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152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B31"/>
          </a:solidFill>
          <a:ln xmlns:a="http://schemas.openxmlformats.org/drawingml/2006/main" w="9525">
            <a:solidFill>
              <a:srgbClr val="3A52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99884-B3D5-4956-9580-A74565A6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9720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信道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模拟器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B104F-059B-4E0E-BB65-9DD9B118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29150"/>
            <a:ext cx="1352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3D4A"/>
          </a:solidFill>
          <a:ln xmlns:a="http://schemas.openxmlformats.org/drawingml/2006/main" w="9525">
            <a:solidFill>
              <a:srgbClr val="08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177B9-CB0E-40C4-A74F-688231DB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7625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车辆车机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+ IQ采集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+ GNSS-SDR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6F0A3-8CFE-4C16-9604-189942C9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674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8E5F2"/>
                </a:solidFill>
              </a:defRPr>
            </a:pPr>
            <a:r>
              <a:rPr sz="1500">
                <a:solidFill>
                  <a:srgbClr val="D8E5F2"/>
                </a:solidFill>
              </a:rPr>
              <a:t>下一步：同步观察车机地图与 GNSS-SDR PVT，建立闭环证据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E566B-6C49-4BE3-9D4A-FEC9F1A1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AAB7CC"/>
                </a:solidFill>
              </a:defRPr>
            </a:pPr>
            <a:r>
              <a:rPr sz="975">
                <a:solidFill>
                  <a:srgbClr val="AAB7CC"/>
                </a:solidFill>
              </a:rPr>
              <a:t>暗室 GNSS 信道模拟进展 · 2026-09-01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7EDBA-6532-4705-95D8-8A5714EA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8144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89D129-D0AC-4592-B7A2-44ECDFB4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雨效应层已形成 16 个可复现仿真组合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A52DD-212C-4138-94F2-F25AD258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D6B82"/>
                </a:solidFill>
              </a:defRPr>
            </a:pPr>
            <a:r>
              <a:rPr sz="1275">
                <a:solidFill>
                  <a:srgbClr val="5D6B82"/>
                </a:solidFill>
              </a:rPr>
              <a:t>4类环境 × 2种质量状态 × 2种天气层；每张表5分钟、3,600,000行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81B0B-E46B-4F6A-BC47-16ACAE6D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DCFF9-7586-439D-B5EF-E719B2E9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C82"/>
                </a:solidFill>
              </a:defRPr>
            </a:pPr>
            <a:r>
              <a:rPr sz="1800" b="1">
                <a:solidFill>
                  <a:srgbClr val="087C82"/>
                </a:solidFill>
              </a:rPr>
              <a:t>场景矩阵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6C045-00F3-4661-B420-FC7BAD49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E08F0-A211-471B-A6B8-1E9646B4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环境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42612-EF2B-461F-99D4-C3B12E04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954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6AC1B-E344-4F79-B486-03D17760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00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Dry · Good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E8C99-2962-4734-95D4-8A513751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954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8E538-D2DC-45E0-BEEB-8915211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Dry · Poor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6B889-1A6C-485E-8F7A-FF8C3AA6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954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8B7D1-9AB8-4171-B975-D07DF80F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Rain · Good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62BC1-313B-4CE0-B3B0-CA88D23D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954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DF2E9-BAD3-4664-B9CB-7518B7D2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Rain · Poor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A576E-A7E3-4FE4-B8A4-62C0956C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E2248-A36C-4A47-902A-5F58578A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955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Urban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97A2F-AACA-49F9-B6A8-F90CF2DD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336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FF301-13BF-478F-9EEB-B6F51890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95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82"/>
                </a:solidFill>
              </a:defRPr>
            </a:pPr>
            <a:r>
              <a:rPr sz="1200" b="0">
                <a:solidFill>
                  <a:srgbClr val="5D6B82"/>
                </a:solidFill>
              </a:rPr>
              <a:t>✓  已生成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B67B9-F6DB-4B7F-BDA8-37B1028A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336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20D4D-5D89-4D13-9BB1-B1B5DECF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95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82"/>
                </a:solidFill>
              </a:defRPr>
            </a:pPr>
            <a:r>
              <a:rPr sz="1200" b="0">
                <a:solidFill>
                  <a:srgbClr val="5D6B82"/>
                </a:solidFill>
              </a:rPr>
              <a:t>✓  已生成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DCFEB-C33B-4D06-9950-AFCA7FED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336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ADED4-DE67-4CF7-829D-5166671D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495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7C82"/>
                </a:solidFill>
              </a:defRPr>
            </a:pPr>
            <a:r>
              <a:rPr sz="1200" b="0">
                <a:solidFill>
                  <a:srgbClr val="087C82"/>
                </a:solidFill>
              </a:rPr>
              <a:t>✓  已生成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7CF9E-E894-4DC3-9586-B81E96A6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336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915E5-7037-4851-B0B1-4E2B16C6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95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7C82"/>
                </a:solidFill>
              </a:defRPr>
            </a:pPr>
            <a:r>
              <a:rPr sz="1200" b="0">
                <a:solidFill>
                  <a:srgbClr val="087C82"/>
                </a:solidFill>
              </a:rPr>
              <a:t>✓  已生成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F25475-8A01-4197-ADA5-CAD50F07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DC111-AC23-4CDE-B713-54A1C9FC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575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Special Reflective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41F6D1-FEDA-4654-A798-03638FC4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956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3310D6-9A19-407B-8542-B9A130D2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575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82"/>
                </a:solidFill>
              </a:defRPr>
            </a:pPr>
            <a:r>
              <a:rPr sz="1200" b="0">
                <a:solidFill>
                  <a:srgbClr val="5D6B82"/>
                </a:solidFill>
              </a:rPr>
              <a:t>✓  已生成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3C6C18-04E6-4C71-B2F9-C4C1E365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956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FF3D54-6A56-4CDF-AD56-E264930A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575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82"/>
                </a:solidFill>
              </a:defRPr>
            </a:pPr>
            <a:r>
              <a:rPr sz="1200" b="0">
                <a:solidFill>
                  <a:srgbClr val="5D6B82"/>
                </a:solidFill>
              </a:rPr>
              <a:t>✓  已生成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9D03B8-DFAB-4CFC-A61B-1F44011F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956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7E5D7D-76FB-4D45-AE5B-678D0248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575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7C82"/>
                </a:solidFill>
              </a:defRPr>
            </a:pPr>
            <a:r>
              <a:rPr sz="1200" b="0">
                <a:solidFill>
                  <a:srgbClr val="087C82"/>
                </a:solidFill>
              </a:rPr>
              <a:t>✓  已生成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1C1C78-092C-4D85-9D1F-411949F6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956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142453-8667-4197-A8E9-A7044B62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575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7C82"/>
                </a:solidFill>
              </a:defRPr>
            </a:pPr>
            <a:r>
              <a:rPr sz="1200" b="0">
                <a:solidFill>
                  <a:srgbClr val="087C82"/>
                </a:solidFill>
              </a:rPr>
              <a:t>✓  已生成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63309D-D010-40C1-AF4F-17707F14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B8C7F6-8A7B-4C1E-81FC-DE59D69A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Mountain/Valley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33BB41-874F-47E4-AC6B-30AE8316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575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45D320-70D5-43B0-AB15-7C999A81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6195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82"/>
                </a:solidFill>
              </a:defRPr>
            </a:pPr>
            <a:r>
              <a:rPr sz="1200" b="0">
                <a:solidFill>
                  <a:srgbClr val="5D6B82"/>
                </a:solidFill>
              </a:rPr>
              <a:t>✓  已生成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C0B676-A5E2-49BD-818A-413CC0B5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575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7BA1B6-5B0B-40D7-B16C-7D79D5B8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195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82"/>
                </a:solidFill>
              </a:defRPr>
            </a:pPr>
            <a:r>
              <a:rPr sz="1200" b="0">
                <a:solidFill>
                  <a:srgbClr val="5D6B82"/>
                </a:solidFill>
              </a:rPr>
              <a:t>✓  已生成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FA8EB0-BE94-4942-AAE1-C1EFF21A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575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D5A4E0-8309-45B5-BE3B-6E7792AF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6195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7C82"/>
                </a:solidFill>
              </a:defRPr>
            </a:pPr>
            <a:r>
              <a:rPr sz="1200" b="0">
                <a:solidFill>
                  <a:srgbClr val="087C82"/>
                </a:solidFill>
              </a:rPr>
              <a:t>✓  已生成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3A60BE-05B1-4D9E-A18D-4CCDAD6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575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7B6EBF-383F-4A71-AF45-B160965B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6195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7C82"/>
                </a:solidFill>
              </a:defRPr>
            </a:pPr>
            <a:r>
              <a:rPr sz="1200" b="0">
                <a:solidFill>
                  <a:srgbClr val="087C82"/>
                </a:solidFill>
              </a:rPr>
              <a:t>✓  已生成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E72694-5BC3-4EDC-8E21-9D6DE61F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A0797A-A792-4EDA-92DB-81063D9C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814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Highway/Open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6F992B-82F1-477B-9012-C20880A7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19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08FEAE-616C-4A11-9CB5-00BAE4BD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814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82"/>
                </a:solidFill>
              </a:defRPr>
            </a:pPr>
            <a:r>
              <a:rPr sz="1200" b="0">
                <a:solidFill>
                  <a:srgbClr val="5D6B82"/>
                </a:solidFill>
              </a:rPr>
              <a:t>✓  已生成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6A699E-05C2-472D-B170-D6BE53FE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19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BDF183-703D-44FA-BC5C-FF3DCD93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814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82"/>
                </a:solidFill>
              </a:defRPr>
            </a:pPr>
            <a:r>
              <a:rPr sz="1200" b="0">
                <a:solidFill>
                  <a:srgbClr val="5D6B82"/>
                </a:solidFill>
              </a:rPr>
              <a:t>✓  已生成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E70A0A-AA35-462C-8F47-8F3016C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19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D4D8EB-A90A-4A7A-9E15-E32D507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1814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7C82"/>
                </a:solidFill>
              </a:defRPr>
            </a:pPr>
            <a:r>
              <a:rPr sz="1200" b="0">
                <a:solidFill>
                  <a:srgbClr val="087C82"/>
                </a:solidFill>
              </a:rPr>
              <a:t>✓  已生成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387AF9-9D55-4FC6-B031-75414188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19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35A997-9FBD-4E54-8F47-4936D950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1814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7C82"/>
                </a:solidFill>
              </a:defRPr>
            </a:pPr>
            <a:r>
              <a:rPr sz="1200" b="0">
                <a:solidFill>
                  <a:srgbClr val="087C82"/>
                </a:solidFill>
              </a:rPr>
              <a:t>✓  已生成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C2F6BD-15E9-449E-A90E-61D4B61D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95475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E22AF2-0154-44AF-B691-2F4EAAA3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雨效应层怎么得到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3E3DC3-5BD5-44A6-A373-069B5EF5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D8E5F2"/>
                </a:solidFill>
              </a:defRPr>
            </a:pPr>
            <a:r>
              <a:rPr sz="1425">
                <a:solidFill>
                  <a:srgbClr val="D8E5F2"/>
                </a:solidFill>
              </a:rPr>
              <a:t>Stage3可靠路径证据</a:t>
            </a:r>
          </a:p>
          <a:p xmlns:a="http://schemas.openxmlformats.org/drawingml/2006/main">
            <a:pPr algn="l">
              <a:defRPr sz="1425">
                <a:solidFill>
                  <a:srgbClr val="D8E5F2"/>
                </a:solidFill>
              </a:defRPr>
            </a:pPr>
            <a:r>
              <a:rPr sz="1425">
                <a:solidFill>
                  <a:srgbClr val="D8E5F2"/>
                </a:solidFill>
              </a:rPr>
              <a:t>90条路径 / 26个episode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D9294B-5AA3-47C5-9530-D9FA50A0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D8E5F2"/>
                </a:solidFill>
              </a:defRPr>
            </a:pPr>
            <a:r>
              <a:rPr sz="1425">
                <a:solidFill>
                  <a:srgbClr val="D8E5F2"/>
                </a:solidFill>
              </a:rPr>
              <a:t>Clear ↔ RainPooled</a:t>
            </a:r>
          </a:p>
          <a:p xmlns:a="http://schemas.openxmlformats.org/drawingml/2006/main">
            <a:pPr algn="l">
              <a:defRPr sz="1425">
                <a:solidFill>
                  <a:srgbClr val="D8E5F2"/>
                </a:solidFill>
              </a:defRPr>
            </a:pPr>
            <a:r>
              <a:rPr sz="1425">
                <a:solidFill>
                  <a:srgbClr val="D8E5F2"/>
                </a:solidFill>
              </a:rPr>
              <a:t>加权经验分布分位数差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B49166-4F43-4663-AFAB-C9049621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8C28"/>
                </a:solidFill>
              </a:defRPr>
            </a:pPr>
            <a:r>
              <a:rPr sz="1425" b="1">
                <a:solidFill>
                  <a:srgbClr val="F28C28"/>
                </a:solidFill>
              </a:rPr>
              <a:t>只变换 NLOS 1–3</a:t>
            </a:r>
          </a:p>
          <a:p xmlns:a="http://schemas.openxmlformats.org/drawingml/2006/main">
            <a:pPr algn="l">
              <a:defRPr sz="1425" b="1">
                <a:solidFill>
                  <a:srgbClr val="F28C28"/>
                </a:solidFill>
              </a:defRPr>
            </a:pPr>
            <a:r>
              <a:rPr sz="1425" b="1">
                <a:solidFill>
                  <a:srgbClr val="F28C28"/>
                </a:solidFill>
              </a:rPr>
              <a:t>40 ms块内保持参数固定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375C3B-2916-41AC-8674-5EF14737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115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AAF54B-5A10-48D0-9F09-60A2D16A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B82"/>
                </a:solidFill>
              </a:defRPr>
            </a:pPr>
            <a:r>
              <a:rPr sz="1575" b="1">
                <a:solidFill>
                  <a:srgbClr val="5D6B82"/>
                </a:solidFill>
              </a:rPr>
              <a:t>输出规模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9C49DD-2098-4CA0-B2EB-6C7AAA93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38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16张表  ·  5,760万行  ·  约4.71 GB  ·  七列格式固定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DDB45B-D584-4DEC-8E6A-513E6A4E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D94A4A"/>
                </a:solidFill>
              </a:defRPr>
            </a:pPr>
            <a:r>
              <a:rPr sz="1350">
                <a:solidFill>
                  <a:srgbClr val="D94A4A"/>
                </a:solidFill>
              </a:rPr>
              <a:t>当前边界：Rain层是经验天气变换，不是固定dB衰减；Stage3证据不等于Stage4确认。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14F3373-D6E2-49DE-B0F0-D5A6F923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D6B82"/>
                </a:solidFill>
              </a:defRPr>
            </a:pPr>
            <a:r>
              <a:rPr sz="975">
                <a:solidFill>
                  <a:srgbClr val="5D6B82"/>
                </a:solidFill>
              </a:rPr>
              <a:t>暗室 GNSS 信道模拟进展 · 2026-09-01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996ABA-9398-4975-9728-04F77477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5272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9A831-CFF6-463C-9900-7C4C8ED0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现场现象：坏场景后车机进入定位异常状态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478FF-D3CC-4AB9-B250-C25F2527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B7C6DA"/>
                </a:solidFill>
              </a:defRPr>
            </a:pPr>
            <a:r>
              <a:rPr sz="1275">
                <a:solidFill>
                  <a:srgbClr val="B7C6DA"/>
                </a:solidFill>
              </a:rPr>
              <a:t>三张照片记录的是界面现象；最终归因仍需同源IQ与GNSS-SDR复核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1C743-45AF-4830-96B7-DD196BB0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855F8-1256-4E26-AA51-E5AF3E91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3505200" cy="42100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31435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b0cbfc8314bad"/>
          <a:srcRect xmlns:a="http://schemas.openxmlformats.org/drawingml/2006/main" l="12295" t="0" r="122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28775"/>
            <a:ext cx="3276600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76727-2855-441E-A987-B47A43EE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E5ADA-33C1-4B66-9876-CD83604A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好场景：可用卫星5，精度显示高，GPS UTC时间正常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B8D47-8919-48F2-B946-F96C91FD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14475"/>
            <a:ext cx="3505200" cy="42100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31435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d5cc29858432d"/>
          <a:srcRect xmlns:a="http://schemas.openxmlformats.org/drawingml/2006/main" l="0" t="12725" r="0" b="12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1628775"/>
            <a:ext cx="3276600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9D41D-A487-45A3-9550-6F99CEDC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3F1EC-61D6-436F-8E65-2213467B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97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坏场景：可用卫星2，精度显示无，GPS UTC时间未提供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B775D-F23F-4174-996E-F9F51ECC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14475"/>
            <a:ext cx="3505200" cy="42100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6233A"/>
          </a:solidFill>
          <a:ln xmlns:a="http://schemas.openxmlformats.org/drawingml/2006/main" w="9525">
            <a:solidFill>
              <a:srgbClr val="31435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665d3adab4a15"/>
          <a:srcRect xmlns:a="http://schemas.openxmlformats.org/drawingml/2006/main" l="0" t="22039" r="0" b="220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1628775"/>
            <a:ext cx="3276600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AF605-5AA8-47F1-A3BA-770E5B32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482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B22C8-86E5-4F51-AF89-BC0023CA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97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重新加载纯GPS后：地图仍未出现车辆位置图标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B3EF3-3DC4-4E92-A4CD-B38907FE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912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8C28"/>
                </a:solidFill>
              </a:defRPr>
            </a:pPr>
            <a:r>
              <a:rPr sz="1575" b="1">
                <a:solidFill>
                  <a:srgbClr val="F28C28"/>
                </a:solidFill>
              </a:rPr>
              <a:t>待验证问题：信道条件过严？车机状态未复位？还是车机定位/显示链路异常？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7F095-5F10-478F-9A7E-5D0C3F84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AAB7CC"/>
                </a:solidFill>
              </a:defRPr>
            </a:pPr>
            <a:r>
              <a:rPr sz="975">
                <a:solidFill>
                  <a:srgbClr val="AAB7CC"/>
                </a:solidFill>
              </a:rPr>
              <a:t>暗室 GNSS 信道模拟进展 · 2026-09-01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15680-954A-4D42-A299-D47677FC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174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9DF9A1-6DD7-467E-90D0-B7472E7B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周五：先恢复车机状态，再做可对照复测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C9136-A7A5-4C6D-82AD-4177E0ED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D6B82"/>
                </a:solidFill>
              </a:defRPr>
            </a:pPr>
            <a:r>
              <a:rPr sz="1275">
                <a:solidFill>
                  <a:srgbClr val="5D6B82"/>
                </a:solidFill>
              </a:rPr>
              <a:t>目标不是增加参数，而是建立“车机异常是否由信道造成”的闭环证据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C8013-EA5B-418B-8E2C-5D33A827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86CB4-E510-470E-AF1E-D4E29A4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C82"/>
                </a:solidFill>
              </a:defRPr>
            </a:pPr>
            <a:r>
              <a:rPr sz="1875" b="1">
                <a:solidFill>
                  <a:srgbClr val="087C82"/>
                </a:solidFill>
              </a:rPr>
              <a:t>周五执行顺序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828CF-9AA7-4A59-8942-8198BB05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8C28"/>
                </a:solidFill>
              </a:defRPr>
            </a:pPr>
            <a:r>
              <a:rPr sz="2100" b="1">
                <a:solidFill>
                  <a:srgbClr val="F28C2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EDFE2-3D9B-44C2-9310-B4CC03EA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9775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66AC8-6870-4F6D-A989-561C9EBB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971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重启车机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60491-CD36-4A5D-BAC4-AB4AB506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3241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B82"/>
                </a:solidFill>
              </a:defRPr>
            </a:pPr>
            <a:r>
              <a:rPr sz="1350">
                <a:solidFill>
                  <a:srgbClr val="5D6B82"/>
                </a:solidFill>
              </a:rPr>
              <a:t>先加载纯GPS/无信道信号，确认时间、位置图标和精度是否恢复。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84E83-D2B0-4644-9DBE-97BA2043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8C28"/>
                </a:solidFill>
              </a:defRPr>
            </a:pPr>
            <a:r>
              <a:rPr sz="2100" b="1">
                <a:solidFill>
                  <a:srgbClr val="F28C2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54139-E17F-4AE3-8E71-53382DC9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F6A20-9D5E-4361-95E1-1FC1C629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099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一好一坏复测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9F0DF-B46A-46D0-9F8A-39E1E257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6232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B82"/>
                </a:solidFill>
              </a:defRPr>
            </a:pPr>
            <a:r>
              <a:rPr sz="1350">
                <a:solidFill>
                  <a:srgbClr val="5D6B82"/>
                </a:solidFill>
              </a:rPr>
              <a:t>从上周场景各选1个好、1个坏；固定星历、参数、功率和时间记录。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1AE02-2EC8-438C-9E50-2E3CEB5C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8C28"/>
                </a:solidFill>
              </a:defRPr>
            </a:pPr>
            <a:r>
              <a:rPr sz="2100" b="1">
                <a:solidFill>
                  <a:srgbClr val="F28C2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C9DE0-6BFA-4D0A-A343-14E4A7D9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86225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2EDD0-2148-4022-9AE1-FD283C63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048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测试8个带雨场景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ACD4D-32C3-42B7-AF5F-59569CA7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0055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D6B82"/>
                </a:solidFill>
              </a:defRPr>
            </a:pPr>
            <a:r>
              <a:rPr sz="1350">
                <a:solidFill>
                  <a:srgbClr val="5D6B82"/>
                </a:solidFill>
              </a:rPr>
              <a:t>按4类环境×Good/Poor逐项回放；全程录屏，并同步保存同源IQ。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6864C-CA8B-496F-ACCA-4477DBB0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429125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AC422-C4C7-4226-837D-642935D9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811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C82"/>
                </a:solidFill>
              </a:defRPr>
            </a:pPr>
            <a:r>
              <a:rPr sz="1875" b="1">
                <a:solidFill>
                  <a:srgbClr val="087C82"/>
                </a:solidFill>
              </a:rPr>
              <a:t>判别逻辑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125F4-B699-4609-B339-D9A5AE3A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9D78"/>
                </a:solidFill>
              </a:defRPr>
            </a:pPr>
            <a:r>
              <a:rPr sz="1500" b="1">
                <a:solidFill>
                  <a:srgbClr val="2D9D78"/>
                </a:solidFill>
              </a:rPr>
              <a:t>地图异常期间，GNSS-SDR仍可定位</a:t>
            </a:r>
          </a:p>
          <a:p xmlns:a="http://schemas.openxmlformats.org/drawingml/2006/main">
            <a:pPr algn="l">
              <a:defRPr sz="1500" b="1">
                <a:solidFill>
                  <a:srgbClr val="2D9D78"/>
                </a:solidFill>
              </a:defRPr>
            </a:pPr>
            <a:r>
              <a:rPr sz="1500" b="1">
                <a:solidFill>
                  <a:srgbClr val="2D9D78"/>
                </a:solidFill>
              </a:rPr>
              <a:t>→ 优先怀疑车机接收/融合/地图链路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1A86E-A9BD-4210-A810-F6E8FE9B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37147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79B5A-3BEA-43AD-8DC3-C6735CB5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051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C28"/>
                </a:solidFill>
              </a:defRPr>
            </a:pPr>
            <a:r>
              <a:rPr sz="1500" b="1">
                <a:solidFill>
                  <a:srgbClr val="F28C28"/>
                </a:solidFill>
              </a:rPr>
              <a:t>地图异常期间，GNSS-SDR也无法定位</a:t>
            </a:r>
          </a:p>
          <a:p xmlns:a="http://schemas.openxmlformats.org/drawingml/2006/main">
            <a:pPr algn="l">
              <a:defRPr sz="1500" b="1">
                <a:solidFill>
                  <a:srgbClr val="F28C28"/>
                </a:solidFill>
              </a:defRPr>
            </a:pPr>
            <a:r>
              <a:rPr sz="1500" b="1">
                <a:solidFill>
                  <a:srgbClr val="F28C28"/>
                </a:solidFill>
              </a:rPr>
              <a:t>→ 检查信道强度、参数严苛度与RF链路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C0A64-6CCE-4538-90D1-41110FBA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86225"/>
            <a:ext cx="37147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EF09F-ABAD-4D7C-B986-05C06380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4A4A"/>
                </a:solidFill>
              </a:defRPr>
            </a:pPr>
            <a:r>
              <a:rPr sz="1500" b="1">
                <a:solidFill>
                  <a:srgbClr val="D94A4A"/>
                </a:solidFill>
              </a:rPr>
              <a:t>重启后纯GPS也不恢复</a:t>
            </a:r>
          </a:p>
          <a:p xmlns:a="http://schemas.openxmlformats.org/drawingml/2006/main">
            <a:pPr algn="l">
              <a:defRPr sz="1500" b="1">
                <a:solidFill>
                  <a:srgbClr val="D94A4A"/>
                </a:solidFill>
              </a:defRPr>
            </a:pPr>
            <a:r>
              <a:rPr sz="1500" b="1">
                <a:solidFill>
                  <a:srgbClr val="D94A4A"/>
                </a:solidFill>
              </a:rPr>
              <a:t>→ 先排查车机状态/软件链路，再解释信道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410CD-3691-4738-9E8A-94F0E4B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9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2033"/>
                </a:solidFill>
              </a:defRPr>
            </a:pPr>
            <a:r>
              <a:rPr sz="1350">
                <a:solidFill>
                  <a:srgbClr val="172033"/>
                </a:solidFill>
              </a:rPr>
              <a:t>最低记录集：场景/seed、模拟器日志、地图录屏、异常时间点、同源IQ、GNSS-SDR PVT与tracking结果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F4E95-5A87-44A9-81A0-B2CBC76C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43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4A4A"/>
                </a:solidFill>
              </a:defRPr>
            </a:pPr>
            <a:r>
              <a:rPr sz="1500" b="1">
                <a:solidFill>
                  <a:srgbClr val="D94A4A"/>
                </a:solidFill>
              </a:rPr>
              <a:t>当前结论：先完成复测与GNSS-SDR对照，再判断是信道过严还是车机问题。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8CB12-0C5D-45F4-B717-E90F33F5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D6B82"/>
                </a:solidFill>
              </a:defRPr>
            </a:pPr>
            <a:r>
              <a:rPr sz="975">
                <a:solidFill>
                  <a:srgbClr val="5D6B82"/>
                </a:solidFill>
              </a:rPr>
              <a:t>暗室 GNSS 信道模拟进展 · 2026-09-01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C1DAA-1812-4DA8-9CAA-AF175619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6236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2026-09-01T04:53:32.7230000Z</dcterms:created>
  <dcterms:modified xsi:type="dcterms:W3CDTF">2026-09-01T04:53:32.7230000Z</dcterms:modified>
</coreProperties>
</file>